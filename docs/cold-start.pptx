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Start. A preflight check for coding agents. You paste a public GitHub repo URL and it hands back four things: a repo map, a landmine report, a generated AGENTS.md, and three ready-to-paste Codex prompts. Built here, over the last two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any coding agent at a repo it has not seen and the first ten minutes are guesswork. And the file that is supposed to fix this — AGENTS.md — is written by hand once, at setup, and never updated. So it is trusted while being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outputs. The map and the landmine report are computed, not generated. The AGENTS.md is rendered from those. Only the three prompts involve a model. Ten seconds, nothing to install.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checks, all pure functions over the fetched files. Each one produces findings that carry a path and a line or a snippet — the right-hand column is the real evidence string. Severity is fixed in code, per check. No model decides how bad anything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I care about most. Almost every tool in this category is a model call in a wrapper. Here the model is the smallest part: one call, and only after the deterministic work is finished. It is given the map and the findings, never raw file contents, and it cannot invent a path — prompts that cite a path we did not scan are rejected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Scan a repo, copy one of the three generated prompts, paste it straight back into Codex, and Codex does the work — grounded in real paths from that repository, not invented ones. The output of this tool is the input to the tool everyone here is already 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small. One screen, one endpoint, and a hard rule that only one file is allowed to touch the network and only one is allowed to touch OpenAI. That separation is what makes the report trustworthy and the failure mode boring.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live now. Try it on something you inherited, or on your own repo from three months ago — the second one is usually more uncomfortable.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0D"/>
        </a:solidFill>
      </p:bgPr>
    </p:bg>
    <p:spTree>
      <p:nvGrpSpPr>
        <p:cNvPr id="1" name=""/>
        <p:cNvGrpSpPr/>
        <p:nvPr/>
      </p:nvGrpSpPr>
      <p:grpSpPr>
        <a:xfrm>
          <a:off x="0" y="0"/>
          <a:ext cx="0" cy="0"/>
          <a:chOff x="0" y="0"/>
          <a:chExt cx="0" cy="0"/>
        </a:xfrm>
      </p:grpSpPr>
      <p:sp>
        <p:nvSpPr>
          <p:cNvPr id="2" name="Text 0"/>
          <p:cNvSpPr txBox="1"/>
          <p:nvPr/>
        </p:nvSpPr>
        <p:spPr>
          <a:xfrm>
            <a:off x="822960" y="1417320"/>
            <a:ext cx="7680960" cy="1051560"/>
          </a:xfrm>
          <a:prstGeom prst="rect">
            <a:avLst/>
          </a:prstGeom>
          <a:noFill/>
          <a:ln/>
        </p:spPr>
        <p:txBody>
          <a:bodyPr wrap="square" lIns="0" tIns="0" rIns="0" bIns="0" rtlCol="0" anchor="ctr"/>
          <a:lstStyle/>
          <a:p>
            <a:pPr indent="0" marL="0">
              <a:buNone/>
            </a:pPr>
            <a:r>
              <a:rPr lang="en-US" sz="6600" b="1" spc="100" kern="0" dirty="0">
                <a:solidFill>
                  <a:srgbClr val="EAF2EC"/>
                </a:solidFill>
                <a:latin typeface="Arial" pitchFamily="34" charset="0"/>
                <a:ea typeface="Arial" pitchFamily="34" charset="-122"/>
                <a:cs typeface="Arial" pitchFamily="34" charset="-120"/>
              </a:rPr>
              <a:t>COLD START</a:t>
            </a:r>
            <a:endParaRPr lang="en-US" sz="6600" dirty="0"/>
          </a:p>
        </p:txBody>
      </p:sp>
      <p:sp>
        <p:nvSpPr>
          <p:cNvPr id="3" name="Text 1"/>
          <p:cNvSpPr txBox="1"/>
          <p:nvPr/>
        </p:nvSpPr>
        <p:spPr>
          <a:xfrm>
            <a:off x="868680" y="2487168"/>
            <a:ext cx="7498080" cy="411480"/>
          </a:xfrm>
          <a:prstGeom prst="rect">
            <a:avLst/>
          </a:prstGeom>
          <a:noFill/>
          <a:ln/>
        </p:spPr>
        <p:txBody>
          <a:bodyPr wrap="square" lIns="0" tIns="0" rIns="0" bIns="0" rtlCol="0" anchor="ctr"/>
          <a:lstStyle/>
          <a:p>
            <a:pPr indent="0" marL="0">
              <a:buNone/>
            </a:pPr>
            <a:r>
              <a:rPr lang="en-US" sz="2200" dirty="0">
                <a:solidFill>
                  <a:srgbClr val="4ADE80"/>
                </a:solidFill>
                <a:latin typeface="Calibri" pitchFamily="34" charset="0"/>
                <a:ea typeface="Calibri" pitchFamily="34" charset="-122"/>
                <a:cs typeface="Calibri" pitchFamily="34" charset="-120"/>
              </a:rPr>
              <a:t>A preflight check for coding agents.</a:t>
            </a:r>
            <a:endParaRPr lang="en-US" sz="2200" dirty="0"/>
          </a:p>
        </p:txBody>
      </p:sp>
      <p:sp>
        <p:nvSpPr>
          <p:cNvPr id="4" name="Text 2"/>
          <p:cNvSpPr txBox="1"/>
          <p:nvPr/>
        </p:nvSpPr>
        <p:spPr>
          <a:xfrm>
            <a:off x="868680" y="2962656"/>
            <a:ext cx="6766560" cy="1005840"/>
          </a:xfrm>
          <a:prstGeom prst="rect">
            <a:avLst/>
          </a:prstGeom>
          <a:noFill/>
          <a:ln/>
        </p:spPr>
        <p:txBody>
          <a:bodyPr wrap="square" lIns="0" tIns="0" rIns="0" bIns="0" rtlCol="0" anchor="ctr"/>
          <a:lstStyle/>
          <a:p>
            <a:pPr indent="0" marL="0">
              <a:lnSpc>
                <a:spcPts val="2200"/>
              </a:lnSpc>
              <a:buNone/>
            </a:pPr>
            <a:r>
              <a:rPr lang="en-US" sz="1500" dirty="0">
                <a:solidFill>
                  <a:srgbClr val="8CA394"/>
                </a:solidFill>
                <a:latin typeface="Calibri" pitchFamily="34" charset="0"/>
                <a:ea typeface="Calibri" pitchFamily="34" charset="-122"/>
                <a:cs typeface="Calibri" pitchFamily="34" charset="-120"/>
              </a:rPr>
              <a:t>Paste a public GitHub repo URL. Get back a grounded AGENTS.md, a landmine report where every finding cites a file, and three next-task prompts you can paste straight into Codex.</a:t>
            </a:r>
            <a:endParaRPr lang="en-US" sz="1500" dirty="0"/>
          </a:p>
        </p:txBody>
      </p:sp>
      <p:sp>
        <p:nvSpPr>
          <p:cNvPr id="5" name="Text 3"/>
          <p:cNvSpPr txBox="1"/>
          <p:nvPr/>
        </p:nvSpPr>
        <p:spPr>
          <a:xfrm>
            <a:off x="868680" y="5394960"/>
            <a:ext cx="5486400" cy="274320"/>
          </a:xfrm>
          <a:prstGeom prst="rect">
            <a:avLst/>
          </a:prstGeom>
          <a:noFill/>
          <a:ln/>
        </p:spPr>
        <p:txBody>
          <a:bodyPr wrap="square" lIns="0" tIns="0" rIns="0" bIns="0" rtlCol="0" anchor="ctr"/>
          <a:lstStyle/>
          <a:p>
            <a:pPr indent="0" marL="0">
              <a:buNone/>
            </a:pPr>
            <a:r>
              <a:rPr lang="en-US" sz="1400" b="1" dirty="0">
                <a:solidFill>
                  <a:srgbClr val="EAF2EC"/>
                </a:solidFill>
                <a:latin typeface="Calibri" pitchFamily="34" charset="0"/>
                <a:ea typeface="Calibri" pitchFamily="34" charset="-122"/>
                <a:cs typeface="Calibri" pitchFamily="34" charset="-120"/>
              </a:rPr>
              <a:t>Nishad Dhakephalkar</a:t>
            </a:r>
            <a:endParaRPr lang="en-US" sz="1400" dirty="0"/>
          </a:p>
        </p:txBody>
      </p:sp>
      <p:sp>
        <p:nvSpPr>
          <p:cNvPr id="6" name="Text 4"/>
          <p:cNvSpPr txBox="1"/>
          <p:nvPr/>
        </p:nvSpPr>
        <p:spPr>
          <a:xfrm>
            <a:off x="868680" y="5669280"/>
            <a:ext cx="5486400" cy="274320"/>
          </a:xfrm>
          <a:prstGeom prst="rect">
            <a:avLst/>
          </a:prstGeom>
          <a:noFill/>
          <a:ln/>
        </p:spPr>
        <p:txBody>
          <a:bodyPr wrap="square" lIns="0" tIns="0" rIns="0" bIns="0" rtlCol="0" anchor="ctr"/>
          <a:lstStyle/>
          <a:p>
            <a:pPr indent="0" marL="0">
              <a:buNone/>
            </a:pPr>
            <a:r>
              <a:rPr lang="en-US" sz="1100" dirty="0">
                <a:solidFill>
                  <a:srgbClr val="5E7266"/>
                </a:solidFill>
                <a:latin typeface="Courier New" pitchFamily="34" charset="0"/>
                <a:ea typeface="Courier New" pitchFamily="34" charset="-122"/>
                <a:cs typeface="Courier New" pitchFamily="34" charset="-120"/>
              </a:rPr>
              <a:t>Codex Build House, Pune  ·  5–6 September 2026</a:t>
            </a:r>
            <a:endParaRPr lang="en-US" sz="1100" dirty="0"/>
          </a:p>
        </p:txBody>
      </p:sp>
      <p:sp>
        <p:nvSpPr>
          <p:cNvPr id="7" name="Shape 5"/>
          <p:cNvSpPr/>
          <p:nvPr/>
        </p:nvSpPr>
        <p:spPr>
          <a:xfrm>
            <a:off x="8229600" y="1417320"/>
            <a:ext cx="3291840" cy="3657600"/>
          </a:xfrm>
          <a:prstGeom prst="roundRect">
            <a:avLst>
              <a:gd name="adj" fmla="val 2500"/>
            </a:avLst>
          </a:prstGeom>
          <a:solidFill>
            <a:srgbClr val="151E18"/>
          </a:solidFill>
          <a:ln w="12700">
            <a:solidFill>
              <a:srgbClr val="1D2A22"/>
            </a:solidFill>
            <a:prstDash val="solid"/>
          </a:ln>
        </p:spPr>
      </p:sp>
      <p:sp>
        <p:nvSpPr>
          <p:cNvPr id="8" name="Shape 6"/>
          <p:cNvSpPr/>
          <p:nvPr/>
        </p:nvSpPr>
        <p:spPr>
          <a:xfrm>
            <a:off x="8485632" y="1673352"/>
            <a:ext cx="274320" cy="274320"/>
          </a:xfrm>
          <a:prstGeom prst="ellipse">
            <a:avLst/>
          </a:prstGeom>
          <a:solidFill>
            <a:srgbClr val="4ADE80"/>
          </a:solidFill>
          <a:ln w="12700">
            <a:solidFill>
              <a:srgbClr val="4ADE80"/>
            </a:solidFill>
            <a:prstDash val="solid"/>
          </a:ln>
        </p:spPr>
      </p:sp>
      <p:sp>
        <p:nvSpPr>
          <p:cNvPr id="9" name="Text 7"/>
          <p:cNvSpPr txBox="1"/>
          <p:nvPr/>
        </p:nvSpPr>
        <p:spPr>
          <a:xfrm>
            <a:off x="8485632" y="1673352"/>
            <a:ext cx="274320" cy="274320"/>
          </a:xfrm>
          <a:prstGeom prst="rect">
            <a:avLst/>
          </a:prstGeom>
          <a:noFill/>
          <a:ln/>
        </p:spPr>
        <p:txBody>
          <a:bodyPr wrap="square" lIns="0" tIns="0" rIns="0" bIns="0" rtlCol="0" anchor="ctr"/>
          <a:lstStyle/>
          <a:p>
            <a:pPr algn="ctr" indent="0" marL="0">
              <a:buNone/>
            </a:pPr>
            <a:r>
              <a:rPr lang="en-US" sz="1300" b="1" dirty="0">
                <a:solidFill>
                  <a:srgbClr val="0B100D"/>
                </a:solidFill>
                <a:latin typeface="Courier New" pitchFamily="34" charset="0"/>
                <a:ea typeface="Courier New" pitchFamily="34" charset="-122"/>
                <a:cs typeface="Courier New" pitchFamily="34" charset="-120"/>
              </a:rPr>
              <a:t>$</a:t>
            </a:r>
            <a:endParaRPr lang="en-US" sz="1300" dirty="0"/>
          </a:p>
        </p:txBody>
      </p:sp>
      <p:sp>
        <p:nvSpPr>
          <p:cNvPr id="10" name="Text 8"/>
          <p:cNvSpPr txBox="1"/>
          <p:nvPr/>
        </p:nvSpPr>
        <p:spPr>
          <a:xfrm>
            <a:off x="8851392" y="1673352"/>
            <a:ext cx="2377440" cy="274320"/>
          </a:xfrm>
          <a:prstGeom prst="rect">
            <a:avLst/>
          </a:prstGeom>
          <a:noFill/>
          <a:ln/>
        </p:spPr>
        <p:txBody>
          <a:bodyPr wrap="square" lIns="0" tIns="0" rIns="0" bIns="0" rtlCol="0" anchor="ctr"/>
          <a:lstStyle/>
          <a:p>
            <a:pPr indent="0" marL="0">
              <a:buNone/>
            </a:pPr>
            <a:r>
              <a:rPr lang="en-US" sz="1100" dirty="0">
                <a:solidFill>
                  <a:srgbClr val="8CA394"/>
                </a:solidFill>
                <a:latin typeface="Courier New" pitchFamily="34" charset="0"/>
                <a:ea typeface="Courier New" pitchFamily="34" charset="-122"/>
                <a:cs typeface="Courier New" pitchFamily="34" charset="-120"/>
              </a:rPr>
              <a:t>cold-start</a:t>
            </a:r>
            <a:endParaRPr lang="en-US" sz="1100" dirty="0"/>
          </a:p>
        </p:txBody>
      </p:sp>
      <p:sp>
        <p:nvSpPr>
          <p:cNvPr id="11" name="Text 9"/>
          <p:cNvSpPr txBox="1"/>
          <p:nvPr/>
        </p:nvSpPr>
        <p:spPr>
          <a:xfrm>
            <a:off x="8503920" y="2157984"/>
            <a:ext cx="2834640" cy="256032"/>
          </a:xfrm>
          <a:prstGeom prst="rect">
            <a:avLst/>
          </a:prstGeom>
          <a:noFill/>
          <a:ln/>
        </p:spPr>
        <p:txBody>
          <a:bodyPr wrap="square" lIns="0" tIns="0" rIns="0" bIns="0" rtlCol="0" anchor="ctr"/>
          <a:lstStyle/>
          <a:p>
            <a:pPr indent="0" marL="0">
              <a:buNone/>
            </a:pPr>
            <a:r>
              <a:rPr lang="en-US" sz="1150" dirty="0">
                <a:solidFill>
                  <a:srgbClr val="EAF2EC"/>
                </a:solidFill>
                <a:latin typeface="Courier New" pitchFamily="34" charset="0"/>
                <a:ea typeface="Courier New" pitchFamily="34" charset="-122"/>
                <a:cs typeface="Courier New" pitchFamily="34" charset="-120"/>
              </a:rPr>
              <a:t>github.com/acme/api</a:t>
            </a:r>
            <a:endParaRPr lang="en-US" sz="1150" dirty="0"/>
          </a:p>
        </p:txBody>
      </p:sp>
      <p:sp>
        <p:nvSpPr>
          <p:cNvPr id="12" name="Text 10"/>
          <p:cNvSpPr txBox="1"/>
          <p:nvPr/>
        </p:nvSpPr>
        <p:spPr>
          <a:xfrm>
            <a:off x="8503920" y="2724912"/>
            <a:ext cx="2834640" cy="256032"/>
          </a:xfrm>
          <a:prstGeom prst="rect">
            <a:avLst/>
          </a:prstGeom>
          <a:noFill/>
          <a:ln/>
        </p:spPr>
        <p:txBody>
          <a:bodyPr wrap="square" lIns="0" tIns="0" rIns="0" bIns="0" rtlCol="0" anchor="ctr"/>
          <a:lstStyle/>
          <a:p>
            <a:pPr indent="0" marL="0">
              <a:buNone/>
            </a:pPr>
            <a:r>
              <a:rPr lang="en-US" sz="1150" dirty="0">
                <a:solidFill>
                  <a:srgbClr val="4ADE80"/>
                </a:solidFill>
                <a:latin typeface="Courier New" pitchFamily="34" charset="0"/>
                <a:ea typeface="Courier New" pitchFamily="34" charset="-122"/>
                <a:cs typeface="Courier New" pitchFamily="34" charset="-120"/>
              </a:rPr>
              <a:t>→ repo map</a:t>
            </a:r>
            <a:endParaRPr lang="en-US" sz="1150" dirty="0"/>
          </a:p>
        </p:txBody>
      </p:sp>
      <p:sp>
        <p:nvSpPr>
          <p:cNvPr id="13" name="Text 11"/>
          <p:cNvSpPr txBox="1"/>
          <p:nvPr/>
        </p:nvSpPr>
        <p:spPr>
          <a:xfrm>
            <a:off x="8503920" y="3008376"/>
            <a:ext cx="2834640" cy="256032"/>
          </a:xfrm>
          <a:prstGeom prst="rect">
            <a:avLst/>
          </a:prstGeom>
          <a:noFill/>
          <a:ln/>
        </p:spPr>
        <p:txBody>
          <a:bodyPr wrap="square" lIns="0" tIns="0" rIns="0" bIns="0" rtlCol="0" anchor="ctr"/>
          <a:lstStyle/>
          <a:p>
            <a:pPr indent="0" marL="0">
              <a:buNone/>
            </a:pPr>
            <a:r>
              <a:rPr lang="en-US" sz="1150" dirty="0">
                <a:solidFill>
                  <a:srgbClr val="4ADE80"/>
                </a:solidFill>
                <a:latin typeface="Courier New" pitchFamily="34" charset="0"/>
                <a:ea typeface="Courier New" pitchFamily="34" charset="-122"/>
                <a:cs typeface="Courier New" pitchFamily="34" charset="-120"/>
              </a:rPr>
              <a:t>→ 11 landmines</a:t>
            </a:r>
            <a:endParaRPr lang="en-US" sz="1150" dirty="0"/>
          </a:p>
        </p:txBody>
      </p:sp>
      <p:sp>
        <p:nvSpPr>
          <p:cNvPr id="14" name="Text 12"/>
          <p:cNvSpPr txBox="1"/>
          <p:nvPr/>
        </p:nvSpPr>
        <p:spPr>
          <a:xfrm>
            <a:off x="8503920" y="3291840"/>
            <a:ext cx="2834640" cy="256032"/>
          </a:xfrm>
          <a:prstGeom prst="rect">
            <a:avLst/>
          </a:prstGeom>
          <a:noFill/>
          <a:ln/>
        </p:spPr>
        <p:txBody>
          <a:bodyPr wrap="square" lIns="0" tIns="0" rIns="0" bIns="0" rtlCol="0" anchor="ctr"/>
          <a:lstStyle/>
          <a:p>
            <a:pPr indent="0" marL="0">
              <a:buNone/>
            </a:pPr>
            <a:r>
              <a:rPr lang="en-US" sz="1150" dirty="0">
                <a:solidFill>
                  <a:srgbClr val="4ADE80"/>
                </a:solidFill>
                <a:latin typeface="Courier New" pitchFamily="34" charset="0"/>
                <a:ea typeface="Courier New" pitchFamily="34" charset="-122"/>
                <a:cs typeface="Courier New" pitchFamily="34" charset="-120"/>
              </a:rPr>
              <a:t>→ AGENTS.md</a:t>
            </a:r>
            <a:endParaRPr lang="en-US" sz="1150" dirty="0"/>
          </a:p>
        </p:txBody>
      </p:sp>
      <p:sp>
        <p:nvSpPr>
          <p:cNvPr id="15" name="Text 13"/>
          <p:cNvSpPr txBox="1"/>
          <p:nvPr/>
        </p:nvSpPr>
        <p:spPr>
          <a:xfrm>
            <a:off x="8503920" y="3575304"/>
            <a:ext cx="2834640" cy="256032"/>
          </a:xfrm>
          <a:prstGeom prst="rect">
            <a:avLst/>
          </a:prstGeom>
          <a:noFill/>
          <a:ln/>
        </p:spPr>
        <p:txBody>
          <a:bodyPr wrap="square" lIns="0" tIns="0" rIns="0" bIns="0" rtlCol="0" anchor="ctr"/>
          <a:lstStyle/>
          <a:p>
            <a:pPr indent="0" marL="0">
              <a:buNone/>
            </a:pPr>
            <a:r>
              <a:rPr lang="en-US" sz="1150" dirty="0">
                <a:solidFill>
                  <a:srgbClr val="4ADE80"/>
                </a:solidFill>
                <a:latin typeface="Courier New" pitchFamily="34" charset="0"/>
                <a:ea typeface="Courier New" pitchFamily="34" charset="-122"/>
                <a:cs typeface="Courier New" pitchFamily="34" charset="-120"/>
              </a:rPr>
              <a:t>→ 3 Codex prompts</a:t>
            </a:r>
            <a:endParaRPr lang="en-US" sz="1150" dirty="0"/>
          </a:p>
        </p:txBody>
      </p:sp>
      <p:sp>
        <p:nvSpPr>
          <p:cNvPr id="16" name="Text 14"/>
          <p:cNvSpPr txBox="1"/>
          <p:nvPr/>
        </p:nvSpPr>
        <p:spPr>
          <a:xfrm>
            <a:off x="8503920" y="4142232"/>
            <a:ext cx="2834640" cy="256032"/>
          </a:xfrm>
          <a:prstGeom prst="rect">
            <a:avLst/>
          </a:prstGeom>
          <a:noFill/>
          <a:ln/>
        </p:spPr>
        <p:txBody>
          <a:bodyPr wrap="square" lIns="0" tIns="0" rIns="0" bIns="0" rtlCol="0" anchor="ctr"/>
          <a:lstStyle/>
          <a:p>
            <a:pPr indent="0" marL="0">
              <a:buNone/>
            </a:pPr>
            <a:r>
              <a:rPr lang="en-US" sz="1150" dirty="0">
                <a:solidFill>
                  <a:srgbClr val="5E7266"/>
                </a:solidFill>
                <a:latin typeface="Courier New" pitchFamily="34" charset="0"/>
                <a:ea typeface="Courier New" pitchFamily="34" charset="-122"/>
                <a:cs typeface="Courier New" pitchFamily="34" charset="-120"/>
              </a:rPr>
              <a:t>scanned 48 of 60 files</a:t>
            </a:r>
            <a:endParaRPr lang="en-US" sz="1150" dirty="0"/>
          </a:p>
        </p:txBody>
      </p:sp>
      <p:sp>
        <p:nvSpPr>
          <p:cNvPr id="17" name="Text 15"/>
          <p:cNvSpPr txBox="1"/>
          <p:nvPr/>
        </p:nvSpPr>
        <p:spPr>
          <a:xfrm>
            <a:off x="8503920" y="4425696"/>
            <a:ext cx="2834640" cy="256032"/>
          </a:xfrm>
          <a:prstGeom prst="rect">
            <a:avLst/>
          </a:prstGeom>
          <a:noFill/>
          <a:ln/>
        </p:spPr>
        <p:txBody>
          <a:bodyPr wrap="square" lIns="0" tIns="0" rIns="0" bIns="0" rtlCol="0" anchor="ctr"/>
          <a:lstStyle/>
          <a:p>
            <a:pPr indent="0" marL="0">
              <a:buNone/>
            </a:pPr>
            <a:r>
              <a:rPr lang="en-US" sz="1150" dirty="0">
                <a:solidFill>
                  <a:srgbClr val="5E7266"/>
                </a:solidFill>
                <a:latin typeface="Courier New" pitchFamily="34" charset="0"/>
                <a:ea typeface="Courier New" pitchFamily="34" charset="-122"/>
                <a:cs typeface="Courier New" pitchFamily="34" charset="-120"/>
              </a:rPr>
              <a:t>1 model call</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0D"/>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56032"/>
          </a:xfrm>
          <a:prstGeom prst="rect">
            <a:avLst/>
          </a:prstGeom>
          <a:noFill/>
          <a:ln/>
        </p:spPr>
        <p:txBody>
          <a:bodyPr wrap="square" lIns="0" tIns="0" rIns="0" bIns="0" rtlCol="0" anchor="ctr"/>
          <a:lstStyle/>
          <a:p>
            <a:pPr indent="0" marL="0">
              <a:buNone/>
            </a:pPr>
            <a:r>
              <a:rPr lang="en-US" sz="1100" spc="150" kern="0" dirty="0">
                <a:solidFill>
                  <a:srgbClr val="4ADE80"/>
                </a:solidFill>
                <a:latin typeface="Courier New" pitchFamily="34" charset="0"/>
                <a:ea typeface="Courier New" pitchFamily="34" charset="-122"/>
                <a:cs typeface="Courier New" pitchFamily="34" charset="-120"/>
              </a:rPr>
              <a:t>THE PROBLEM</a:t>
            </a:r>
            <a:endParaRPr lang="en-US" sz="11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3400" b="1" dirty="0">
                <a:solidFill>
                  <a:srgbClr val="EAF2EC"/>
                </a:solidFill>
                <a:latin typeface="Arial" pitchFamily="34" charset="0"/>
                <a:ea typeface="Arial" pitchFamily="34" charset="-122"/>
                <a:cs typeface="Arial" pitchFamily="34" charset="-120"/>
              </a:rPr>
              <a:t>An agent's first ten minutes are guesswork</a:t>
            </a:r>
            <a:endParaRPr lang="en-US" sz="3400" dirty="0"/>
          </a:p>
        </p:txBody>
      </p:sp>
      <p:sp>
        <p:nvSpPr>
          <p:cNvPr id="4" name="Shape 2"/>
          <p:cNvSpPr/>
          <p:nvPr/>
        </p:nvSpPr>
        <p:spPr>
          <a:xfrm>
            <a:off x="658368" y="1645920"/>
            <a:ext cx="347472" cy="347472"/>
          </a:xfrm>
          <a:prstGeom prst="ellipse">
            <a:avLst/>
          </a:prstGeom>
          <a:solidFill>
            <a:srgbClr val="4ADE80"/>
          </a:solidFill>
          <a:ln w="12700">
            <a:solidFill>
              <a:srgbClr val="4ADE80"/>
            </a:solidFill>
            <a:prstDash val="solid"/>
          </a:ln>
        </p:spPr>
      </p:sp>
      <p:sp>
        <p:nvSpPr>
          <p:cNvPr id="5" name="Text 3"/>
          <p:cNvSpPr txBox="1"/>
          <p:nvPr/>
        </p:nvSpPr>
        <p:spPr>
          <a:xfrm>
            <a:off x="658368" y="1645920"/>
            <a:ext cx="347472" cy="347472"/>
          </a:xfrm>
          <a:prstGeom prst="rect">
            <a:avLst/>
          </a:prstGeom>
          <a:noFill/>
          <a:ln/>
        </p:spPr>
        <p:txBody>
          <a:bodyPr wrap="square" lIns="0" tIns="0" rIns="0" bIns="0" rtlCol="0" anchor="ctr"/>
          <a:lstStyle/>
          <a:p>
            <a:pPr algn="ctr" indent="0" marL="0">
              <a:buNone/>
            </a:pPr>
            <a:r>
              <a:rPr lang="en-US" sz="1300" b="1" dirty="0">
                <a:solidFill>
                  <a:srgbClr val="0B100D"/>
                </a:solidFill>
                <a:latin typeface="Courier New" pitchFamily="34" charset="0"/>
                <a:ea typeface="Courier New" pitchFamily="34" charset="-122"/>
                <a:cs typeface="Courier New" pitchFamily="34" charset="-120"/>
              </a:rPr>
              <a:t>1</a:t>
            </a:r>
            <a:endParaRPr lang="en-US" sz="1300" dirty="0"/>
          </a:p>
        </p:txBody>
      </p:sp>
      <p:sp>
        <p:nvSpPr>
          <p:cNvPr id="6" name="Text 4"/>
          <p:cNvSpPr txBox="1"/>
          <p:nvPr/>
        </p:nvSpPr>
        <p:spPr>
          <a:xfrm>
            <a:off x="1207008" y="1627632"/>
            <a:ext cx="5120640" cy="292608"/>
          </a:xfrm>
          <a:prstGeom prst="rect">
            <a:avLst/>
          </a:prstGeom>
          <a:noFill/>
          <a:ln/>
        </p:spPr>
        <p:txBody>
          <a:bodyPr wrap="square" lIns="0" tIns="0" rIns="0" bIns="0" rtlCol="0" anchor="ctr"/>
          <a:lstStyle/>
          <a:p>
            <a:pPr indent="0" marL="0">
              <a:buNone/>
            </a:pPr>
            <a:r>
              <a:rPr lang="en-US" sz="1700" b="1" dirty="0">
                <a:solidFill>
                  <a:srgbClr val="EAF2EC"/>
                </a:solidFill>
                <a:latin typeface="Calibri" pitchFamily="34" charset="0"/>
                <a:ea typeface="Calibri" pitchFamily="34" charset="-122"/>
                <a:cs typeface="Calibri" pitchFamily="34" charset="-120"/>
              </a:rPr>
              <a:t>It guesses the build command</a:t>
            </a:r>
            <a:endParaRPr lang="en-US" sz="1700" dirty="0"/>
          </a:p>
        </p:txBody>
      </p:sp>
      <p:sp>
        <p:nvSpPr>
          <p:cNvPr id="7" name="Text 5"/>
          <p:cNvSpPr txBox="1"/>
          <p:nvPr/>
        </p:nvSpPr>
        <p:spPr>
          <a:xfrm>
            <a:off x="1207008" y="1938528"/>
            <a:ext cx="5120640" cy="310896"/>
          </a:xfrm>
          <a:prstGeom prst="rect">
            <a:avLst/>
          </a:prstGeom>
          <a:noFill/>
          <a:ln/>
        </p:spPr>
        <p:txBody>
          <a:bodyPr wrap="square" lIns="0" tIns="0" rIns="0" bIns="0" rtlCol="0" anchor="ctr"/>
          <a:lstStyle/>
          <a:p>
            <a:pPr indent="0" marL="0">
              <a:buNone/>
            </a:pPr>
            <a:r>
              <a:rPr lang="en-US" sz="1400" dirty="0">
                <a:solidFill>
                  <a:srgbClr val="8CA394"/>
                </a:solidFill>
                <a:latin typeface="Calibri" pitchFamily="34" charset="0"/>
                <a:ea typeface="Calibri" pitchFamily="34" charset="-122"/>
                <a:cs typeface="Calibri" pitchFamily="34" charset="-120"/>
              </a:rPr>
              <a:t>and runs the one the README had two refactors ago.</a:t>
            </a:r>
            <a:endParaRPr lang="en-US" sz="1400" dirty="0"/>
          </a:p>
        </p:txBody>
      </p:sp>
      <p:sp>
        <p:nvSpPr>
          <p:cNvPr id="8" name="Shape 6"/>
          <p:cNvSpPr/>
          <p:nvPr/>
        </p:nvSpPr>
        <p:spPr>
          <a:xfrm>
            <a:off x="658368" y="2670048"/>
            <a:ext cx="347472" cy="347472"/>
          </a:xfrm>
          <a:prstGeom prst="ellipse">
            <a:avLst/>
          </a:prstGeom>
          <a:solidFill>
            <a:srgbClr val="4ADE80"/>
          </a:solidFill>
          <a:ln w="12700">
            <a:solidFill>
              <a:srgbClr val="4ADE80"/>
            </a:solidFill>
            <a:prstDash val="solid"/>
          </a:ln>
        </p:spPr>
      </p:sp>
      <p:sp>
        <p:nvSpPr>
          <p:cNvPr id="9" name="Text 7"/>
          <p:cNvSpPr txBox="1"/>
          <p:nvPr/>
        </p:nvSpPr>
        <p:spPr>
          <a:xfrm>
            <a:off x="658368" y="2670048"/>
            <a:ext cx="347472" cy="347472"/>
          </a:xfrm>
          <a:prstGeom prst="rect">
            <a:avLst/>
          </a:prstGeom>
          <a:noFill/>
          <a:ln/>
        </p:spPr>
        <p:txBody>
          <a:bodyPr wrap="square" lIns="0" tIns="0" rIns="0" bIns="0" rtlCol="0" anchor="ctr"/>
          <a:lstStyle/>
          <a:p>
            <a:pPr algn="ctr" indent="0" marL="0">
              <a:buNone/>
            </a:pPr>
            <a:r>
              <a:rPr lang="en-US" sz="1300" b="1" dirty="0">
                <a:solidFill>
                  <a:srgbClr val="0B100D"/>
                </a:solidFill>
                <a:latin typeface="Courier New" pitchFamily="34" charset="0"/>
                <a:ea typeface="Courier New" pitchFamily="34" charset="-122"/>
                <a:cs typeface="Courier New" pitchFamily="34" charset="-120"/>
              </a:rPr>
              <a:t>2</a:t>
            </a:r>
            <a:endParaRPr lang="en-US" sz="1300" dirty="0"/>
          </a:p>
        </p:txBody>
      </p:sp>
      <p:sp>
        <p:nvSpPr>
          <p:cNvPr id="10" name="Text 8"/>
          <p:cNvSpPr txBox="1"/>
          <p:nvPr/>
        </p:nvSpPr>
        <p:spPr>
          <a:xfrm>
            <a:off x="1207008" y="2651760"/>
            <a:ext cx="5120640" cy="292608"/>
          </a:xfrm>
          <a:prstGeom prst="rect">
            <a:avLst/>
          </a:prstGeom>
          <a:noFill/>
          <a:ln/>
        </p:spPr>
        <p:txBody>
          <a:bodyPr wrap="square" lIns="0" tIns="0" rIns="0" bIns="0" rtlCol="0" anchor="ctr"/>
          <a:lstStyle/>
          <a:p>
            <a:pPr indent="0" marL="0">
              <a:buNone/>
            </a:pPr>
            <a:r>
              <a:rPr lang="en-US" sz="1700" b="1" dirty="0">
                <a:solidFill>
                  <a:srgbClr val="EAF2EC"/>
                </a:solidFill>
                <a:latin typeface="Calibri" pitchFamily="34" charset="0"/>
                <a:ea typeface="Calibri" pitchFamily="34" charset="-122"/>
                <a:cs typeface="Calibri" pitchFamily="34" charset="-120"/>
              </a:rPr>
              <a:t>It guesses which directories matter</a:t>
            </a:r>
            <a:endParaRPr lang="en-US" sz="1700" dirty="0"/>
          </a:p>
        </p:txBody>
      </p:sp>
      <p:sp>
        <p:nvSpPr>
          <p:cNvPr id="11" name="Text 9"/>
          <p:cNvSpPr txBox="1"/>
          <p:nvPr/>
        </p:nvSpPr>
        <p:spPr>
          <a:xfrm>
            <a:off x="1207008" y="2962656"/>
            <a:ext cx="5120640" cy="310896"/>
          </a:xfrm>
          <a:prstGeom prst="rect">
            <a:avLst/>
          </a:prstGeom>
          <a:noFill/>
          <a:ln/>
        </p:spPr>
        <p:txBody>
          <a:bodyPr wrap="square" lIns="0" tIns="0" rIns="0" bIns="0" rtlCol="0" anchor="ctr"/>
          <a:lstStyle/>
          <a:p>
            <a:pPr indent="0" marL="0">
              <a:buNone/>
            </a:pPr>
            <a:r>
              <a:rPr lang="en-US" sz="1400" dirty="0">
                <a:solidFill>
                  <a:srgbClr val="8CA394"/>
                </a:solidFill>
                <a:latin typeface="Calibri" pitchFamily="34" charset="0"/>
                <a:ea typeface="Calibri" pitchFamily="34" charset="-122"/>
                <a:cs typeface="Calibri" pitchFamily="34" charset="-120"/>
              </a:rPr>
              <a:t>and reads the generated ones.</a:t>
            </a:r>
            <a:endParaRPr lang="en-US" sz="1400" dirty="0"/>
          </a:p>
        </p:txBody>
      </p:sp>
      <p:sp>
        <p:nvSpPr>
          <p:cNvPr id="12" name="Shape 10"/>
          <p:cNvSpPr/>
          <p:nvPr/>
        </p:nvSpPr>
        <p:spPr>
          <a:xfrm>
            <a:off x="658368" y="3694176"/>
            <a:ext cx="347472" cy="347472"/>
          </a:xfrm>
          <a:prstGeom prst="ellipse">
            <a:avLst/>
          </a:prstGeom>
          <a:solidFill>
            <a:srgbClr val="4ADE80"/>
          </a:solidFill>
          <a:ln w="12700">
            <a:solidFill>
              <a:srgbClr val="4ADE80"/>
            </a:solidFill>
            <a:prstDash val="solid"/>
          </a:ln>
        </p:spPr>
      </p:sp>
      <p:sp>
        <p:nvSpPr>
          <p:cNvPr id="13" name="Text 11"/>
          <p:cNvSpPr txBox="1"/>
          <p:nvPr/>
        </p:nvSpPr>
        <p:spPr>
          <a:xfrm>
            <a:off x="658368" y="3694176"/>
            <a:ext cx="347472" cy="347472"/>
          </a:xfrm>
          <a:prstGeom prst="rect">
            <a:avLst/>
          </a:prstGeom>
          <a:noFill/>
          <a:ln/>
        </p:spPr>
        <p:txBody>
          <a:bodyPr wrap="square" lIns="0" tIns="0" rIns="0" bIns="0" rtlCol="0" anchor="ctr"/>
          <a:lstStyle/>
          <a:p>
            <a:pPr algn="ctr" indent="0" marL="0">
              <a:buNone/>
            </a:pPr>
            <a:r>
              <a:rPr lang="en-US" sz="1300" b="1" dirty="0">
                <a:solidFill>
                  <a:srgbClr val="0B100D"/>
                </a:solidFill>
                <a:latin typeface="Courier New" pitchFamily="34" charset="0"/>
                <a:ea typeface="Courier New" pitchFamily="34" charset="-122"/>
                <a:cs typeface="Courier New" pitchFamily="34" charset="-120"/>
              </a:rPr>
              <a:t>3</a:t>
            </a:r>
            <a:endParaRPr lang="en-US" sz="1300" dirty="0"/>
          </a:p>
        </p:txBody>
      </p:sp>
      <p:sp>
        <p:nvSpPr>
          <p:cNvPr id="14" name="Text 12"/>
          <p:cNvSpPr txBox="1"/>
          <p:nvPr/>
        </p:nvSpPr>
        <p:spPr>
          <a:xfrm>
            <a:off x="1207008" y="3675888"/>
            <a:ext cx="5120640" cy="292608"/>
          </a:xfrm>
          <a:prstGeom prst="rect">
            <a:avLst/>
          </a:prstGeom>
          <a:noFill/>
          <a:ln/>
        </p:spPr>
        <p:txBody>
          <a:bodyPr wrap="square" lIns="0" tIns="0" rIns="0" bIns="0" rtlCol="0" anchor="ctr"/>
          <a:lstStyle/>
          <a:p>
            <a:pPr indent="0" marL="0">
              <a:buNone/>
            </a:pPr>
            <a:r>
              <a:rPr lang="en-US" sz="1700" b="1" dirty="0">
                <a:solidFill>
                  <a:srgbClr val="EAF2EC"/>
                </a:solidFill>
                <a:latin typeface="Calibri" pitchFamily="34" charset="0"/>
                <a:ea typeface="Calibri" pitchFamily="34" charset="-122"/>
                <a:cs typeface="Calibri" pitchFamily="34" charset="-120"/>
              </a:rPr>
              <a:t>It guesses what is already half-built</a:t>
            </a:r>
            <a:endParaRPr lang="en-US" sz="1700" dirty="0"/>
          </a:p>
        </p:txBody>
      </p:sp>
      <p:sp>
        <p:nvSpPr>
          <p:cNvPr id="15" name="Text 13"/>
          <p:cNvSpPr txBox="1"/>
          <p:nvPr/>
        </p:nvSpPr>
        <p:spPr>
          <a:xfrm>
            <a:off x="1207008" y="3986784"/>
            <a:ext cx="5120640" cy="310896"/>
          </a:xfrm>
          <a:prstGeom prst="rect">
            <a:avLst/>
          </a:prstGeom>
          <a:noFill/>
          <a:ln/>
        </p:spPr>
        <p:txBody>
          <a:bodyPr wrap="square" lIns="0" tIns="0" rIns="0" bIns="0" rtlCol="0" anchor="ctr"/>
          <a:lstStyle/>
          <a:p>
            <a:pPr indent="0" marL="0">
              <a:buNone/>
            </a:pPr>
            <a:r>
              <a:rPr lang="en-US" sz="1400" dirty="0">
                <a:solidFill>
                  <a:srgbClr val="8CA394"/>
                </a:solidFill>
                <a:latin typeface="Calibri" pitchFamily="34" charset="0"/>
                <a:ea typeface="Calibri" pitchFamily="34" charset="-122"/>
                <a:cs typeface="Calibri" pitchFamily="34" charset="-120"/>
              </a:rPr>
              <a:t>and starts it again.</a:t>
            </a:r>
            <a:endParaRPr lang="en-US" sz="1400" dirty="0"/>
          </a:p>
        </p:txBody>
      </p:sp>
      <p:sp>
        <p:nvSpPr>
          <p:cNvPr id="16" name="Shape 14"/>
          <p:cNvSpPr/>
          <p:nvPr/>
        </p:nvSpPr>
        <p:spPr>
          <a:xfrm>
            <a:off x="658368" y="4718304"/>
            <a:ext cx="347472" cy="347472"/>
          </a:xfrm>
          <a:prstGeom prst="ellipse">
            <a:avLst/>
          </a:prstGeom>
          <a:solidFill>
            <a:srgbClr val="4ADE80"/>
          </a:solidFill>
          <a:ln w="12700">
            <a:solidFill>
              <a:srgbClr val="4ADE80"/>
            </a:solidFill>
            <a:prstDash val="solid"/>
          </a:ln>
        </p:spPr>
      </p:sp>
      <p:sp>
        <p:nvSpPr>
          <p:cNvPr id="17" name="Text 15"/>
          <p:cNvSpPr txBox="1"/>
          <p:nvPr/>
        </p:nvSpPr>
        <p:spPr>
          <a:xfrm>
            <a:off x="658368" y="4718304"/>
            <a:ext cx="347472" cy="347472"/>
          </a:xfrm>
          <a:prstGeom prst="rect">
            <a:avLst/>
          </a:prstGeom>
          <a:noFill/>
          <a:ln/>
        </p:spPr>
        <p:txBody>
          <a:bodyPr wrap="square" lIns="0" tIns="0" rIns="0" bIns="0" rtlCol="0" anchor="ctr"/>
          <a:lstStyle/>
          <a:p>
            <a:pPr algn="ctr" indent="0" marL="0">
              <a:buNone/>
            </a:pPr>
            <a:r>
              <a:rPr lang="en-US" sz="1300" b="1" dirty="0">
                <a:solidFill>
                  <a:srgbClr val="0B100D"/>
                </a:solidFill>
                <a:latin typeface="Courier New" pitchFamily="34" charset="0"/>
                <a:ea typeface="Courier New" pitchFamily="34" charset="-122"/>
                <a:cs typeface="Courier New" pitchFamily="34" charset="-120"/>
              </a:rPr>
              <a:t>4</a:t>
            </a:r>
            <a:endParaRPr lang="en-US" sz="1300" dirty="0"/>
          </a:p>
        </p:txBody>
      </p:sp>
      <p:sp>
        <p:nvSpPr>
          <p:cNvPr id="18" name="Text 16"/>
          <p:cNvSpPr txBox="1"/>
          <p:nvPr/>
        </p:nvSpPr>
        <p:spPr>
          <a:xfrm>
            <a:off x="1207008" y="4700016"/>
            <a:ext cx="5120640" cy="292608"/>
          </a:xfrm>
          <a:prstGeom prst="rect">
            <a:avLst/>
          </a:prstGeom>
          <a:noFill/>
          <a:ln/>
        </p:spPr>
        <p:txBody>
          <a:bodyPr wrap="square" lIns="0" tIns="0" rIns="0" bIns="0" rtlCol="0" anchor="ctr"/>
          <a:lstStyle/>
          <a:p>
            <a:pPr indent="0" marL="0">
              <a:buNone/>
            </a:pPr>
            <a:r>
              <a:rPr lang="en-US" sz="1700" b="1" dirty="0">
                <a:solidFill>
                  <a:srgbClr val="EAF2EC"/>
                </a:solidFill>
                <a:latin typeface="Calibri" pitchFamily="34" charset="0"/>
                <a:ea typeface="Calibri" pitchFamily="34" charset="-122"/>
                <a:cs typeface="Calibri" pitchFamily="34" charset="-120"/>
              </a:rPr>
              <a:t>It never learns what broke last time</a:t>
            </a:r>
            <a:endParaRPr lang="en-US" sz="1700" dirty="0"/>
          </a:p>
        </p:txBody>
      </p:sp>
      <p:sp>
        <p:nvSpPr>
          <p:cNvPr id="19" name="Text 17"/>
          <p:cNvSpPr txBox="1"/>
          <p:nvPr/>
        </p:nvSpPr>
        <p:spPr>
          <a:xfrm>
            <a:off x="1207008" y="5010912"/>
            <a:ext cx="5120640" cy="310896"/>
          </a:xfrm>
          <a:prstGeom prst="rect">
            <a:avLst/>
          </a:prstGeom>
          <a:noFill/>
          <a:ln/>
        </p:spPr>
        <p:txBody>
          <a:bodyPr wrap="square" lIns="0" tIns="0" rIns="0" bIns="0" rtlCol="0" anchor="ctr"/>
          <a:lstStyle/>
          <a:p>
            <a:pPr indent="0" marL="0">
              <a:buNone/>
            </a:pPr>
            <a:r>
              <a:rPr lang="en-US" sz="1400" dirty="0">
                <a:solidFill>
                  <a:srgbClr val="8CA394"/>
                </a:solidFill>
                <a:latin typeface="Calibri" pitchFamily="34" charset="0"/>
                <a:ea typeface="Calibri" pitchFamily="34" charset="-122"/>
                <a:cs typeface="Calibri" pitchFamily="34" charset="-120"/>
              </a:rPr>
              <a:t>because nobody wrote it down.</a:t>
            </a:r>
            <a:endParaRPr lang="en-US" sz="1400" dirty="0"/>
          </a:p>
        </p:txBody>
      </p:sp>
      <p:sp>
        <p:nvSpPr>
          <p:cNvPr id="20" name="Shape 18"/>
          <p:cNvSpPr/>
          <p:nvPr/>
        </p:nvSpPr>
        <p:spPr>
          <a:xfrm>
            <a:off x="6858000" y="1572768"/>
            <a:ext cx="4709160" cy="4114800"/>
          </a:xfrm>
          <a:prstGeom prst="roundRect">
            <a:avLst>
              <a:gd name="adj" fmla="val 2000"/>
            </a:avLst>
          </a:prstGeom>
          <a:solidFill>
            <a:srgbClr val="151E18"/>
          </a:solidFill>
          <a:ln w="12700">
            <a:solidFill>
              <a:srgbClr val="1D2A22"/>
            </a:solidFill>
            <a:prstDash val="solid"/>
          </a:ln>
        </p:spPr>
      </p:sp>
      <p:sp>
        <p:nvSpPr>
          <p:cNvPr id="21" name="Text 19"/>
          <p:cNvSpPr txBox="1"/>
          <p:nvPr/>
        </p:nvSpPr>
        <p:spPr>
          <a:xfrm>
            <a:off x="7178040" y="1810512"/>
            <a:ext cx="4114800" cy="274320"/>
          </a:xfrm>
          <a:prstGeom prst="rect">
            <a:avLst/>
          </a:prstGeom>
          <a:noFill/>
          <a:ln/>
        </p:spPr>
        <p:txBody>
          <a:bodyPr wrap="square" lIns="0" tIns="0" rIns="0" bIns="0" rtlCol="0" anchor="ctr"/>
          <a:lstStyle/>
          <a:p>
            <a:pPr indent="0" marL="0">
              <a:buNone/>
            </a:pPr>
            <a:r>
              <a:rPr lang="en-US" sz="1300" b="1" dirty="0">
                <a:solidFill>
                  <a:srgbClr val="4ADE80"/>
                </a:solidFill>
                <a:latin typeface="Calibri" pitchFamily="34" charset="0"/>
                <a:ea typeface="Calibri" pitchFamily="34" charset="-122"/>
                <a:cs typeface="Calibri" pitchFamily="34" charset="-120"/>
              </a:rPr>
              <a:t>AGENTS.md, as it usually exists</a:t>
            </a:r>
            <a:endParaRPr lang="en-US" sz="1300" dirty="0"/>
          </a:p>
        </p:txBody>
      </p:sp>
      <p:sp>
        <p:nvSpPr>
          <p:cNvPr id="22" name="Text 20"/>
          <p:cNvSpPr txBox="1"/>
          <p:nvPr/>
        </p:nvSpPr>
        <p:spPr>
          <a:xfrm>
            <a:off x="7178040" y="2249424"/>
            <a:ext cx="4114800" cy="256032"/>
          </a:xfrm>
          <a:prstGeom prst="rect">
            <a:avLst/>
          </a:prstGeom>
          <a:noFill/>
          <a:ln/>
        </p:spPr>
        <p:txBody>
          <a:bodyPr wrap="square" lIns="0" tIns="0" rIns="0" bIns="0" rtlCol="0" anchor="ctr"/>
          <a:lstStyle/>
          <a:p>
            <a:pPr indent="0" marL="0">
              <a:buNone/>
            </a:pPr>
            <a:r>
              <a:rPr lang="en-US" sz="1150" dirty="0">
                <a:solidFill>
                  <a:srgbClr val="8CA394"/>
                </a:solidFill>
                <a:latin typeface="Courier New" pitchFamily="34" charset="0"/>
                <a:ea typeface="Courier New" pitchFamily="34" charset="-122"/>
                <a:cs typeface="Courier New" pitchFamily="34" charset="-120"/>
              </a:rPr>
              <a:t># AGENTS.md</a:t>
            </a:r>
            <a:endParaRPr lang="en-US" sz="1150" dirty="0"/>
          </a:p>
        </p:txBody>
      </p:sp>
      <p:sp>
        <p:nvSpPr>
          <p:cNvPr id="23" name="Text 21"/>
          <p:cNvSpPr txBox="1"/>
          <p:nvPr/>
        </p:nvSpPr>
        <p:spPr>
          <a:xfrm>
            <a:off x="7178040" y="2523744"/>
            <a:ext cx="4114800" cy="256032"/>
          </a:xfrm>
          <a:prstGeom prst="rect">
            <a:avLst/>
          </a:prstGeom>
          <a:noFill/>
          <a:ln/>
        </p:spPr>
        <p:txBody>
          <a:bodyPr wrap="square" lIns="0" tIns="0" rIns="0" bIns="0" rtlCol="0" anchor="ctr"/>
          <a:lstStyle/>
          <a:p>
            <a:pPr indent="0" marL="0">
              <a:buNone/>
            </a:pPr>
            <a:r>
              <a:rPr lang="en-US" sz="1150" dirty="0">
                <a:solidFill>
                  <a:srgbClr val="8CA394"/>
                </a:solidFill>
                <a:latin typeface="Courier New" pitchFamily="34" charset="0"/>
                <a:ea typeface="Courier New" pitchFamily="34" charset="-122"/>
                <a:cs typeface="Courier New" pitchFamily="34" charset="-120"/>
              </a:rPr>
              <a:t> </a:t>
            </a:r>
            <a:endParaRPr lang="en-US" sz="1150" dirty="0"/>
          </a:p>
        </p:txBody>
      </p:sp>
      <p:sp>
        <p:nvSpPr>
          <p:cNvPr id="24" name="Text 22"/>
          <p:cNvSpPr txBox="1"/>
          <p:nvPr/>
        </p:nvSpPr>
        <p:spPr>
          <a:xfrm>
            <a:off x="7178040" y="2798064"/>
            <a:ext cx="4114800" cy="256032"/>
          </a:xfrm>
          <a:prstGeom prst="rect">
            <a:avLst/>
          </a:prstGeom>
          <a:noFill/>
          <a:ln/>
        </p:spPr>
        <p:txBody>
          <a:bodyPr wrap="square" lIns="0" tIns="0" rIns="0" bIns="0" rtlCol="0" anchor="ctr"/>
          <a:lstStyle/>
          <a:p>
            <a:pPr indent="0" marL="0">
              <a:buNone/>
            </a:pPr>
            <a:r>
              <a:rPr lang="en-US" sz="1150" dirty="0">
                <a:solidFill>
                  <a:srgbClr val="8CA394"/>
                </a:solidFill>
                <a:latin typeface="Courier New" pitchFamily="34" charset="0"/>
                <a:ea typeface="Courier New" pitchFamily="34" charset="-122"/>
                <a:cs typeface="Courier New" pitchFamily="34" charset="-120"/>
              </a:rPr>
              <a:t>Run `npm start` to start.</a:t>
            </a:r>
            <a:endParaRPr lang="en-US" sz="1150" dirty="0"/>
          </a:p>
        </p:txBody>
      </p:sp>
      <p:sp>
        <p:nvSpPr>
          <p:cNvPr id="25" name="Text 23"/>
          <p:cNvSpPr txBox="1"/>
          <p:nvPr/>
        </p:nvSpPr>
        <p:spPr>
          <a:xfrm>
            <a:off x="7178040" y="3072384"/>
            <a:ext cx="4114800" cy="256032"/>
          </a:xfrm>
          <a:prstGeom prst="rect">
            <a:avLst/>
          </a:prstGeom>
          <a:noFill/>
          <a:ln/>
        </p:spPr>
        <p:txBody>
          <a:bodyPr wrap="square" lIns="0" tIns="0" rIns="0" bIns="0" rtlCol="0" anchor="ctr"/>
          <a:lstStyle/>
          <a:p>
            <a:pPr indent="0" marL="0">
              <a:buNone/>
            </a:pPr>
            <a:r>
              <a:rPr lang="en-US" sz="1150" dirty="0">
                <a:solidFill>
                  <a:srgbClr val="8CA394"/>
                </a:solidFill>
                <a:latin typeface="Courier New" pitchFamily="34" charset="0"/>
                <a:ea typeface="Courier New" pitchFamily="34" charset="-122"/>
                <a:cs typeface="Courier New" pitchFamily="34" charset="-120"/>
              </a:rPr>
              <a:t> </a:t>
            </a:r>
            <a:endParaRPr lang="en-US" sz="1150" dirty="0"/>
          </a:p>
        </p:txBody>
      </p:sp>
      <p:sp>
        <p:nvSpPr>
          <p:cNvPr id="26" name="Text 24"/>
          <p:cNvSpPr txBox="1"/>
          <p:nvPr/>
        </p:nvSpPr>
        <p:spPr>
          <a:xfrm>
            <a:off x="7178040" y="3346704"/>
            <a:ext cx="4114800" cy="256032"/>
          </a:xfrm>
          <a:prstGeom prst="rect">
            <a:avLst/>
          </a:prstGeom>
          <a:noFill/>
          <a:ln/>
        </p:spPr>
        <p:txBody>
          <a:bodyPr wrap="square" lIns="0" tIns="0" rIns="0" bIns="0" rtlCol="0" anchor="ctr"/>
          <a:lstStyle/>
          <a:p>
            <a:pPr indent="0" marL="0">
              <a:buNone/>
            </a:pPr>
            <a:r>
              <a:rPr lang="en-US" sz="1150" dirty="0">
                <a:solidFill>
                  <a:srgbClr val="8CA394"/>
                </a:solidFill>
                <a:latin typeface="Courier New" pitchFamily="34" charset="0"/>
                <a:ea typeface="Courier New" pitchFamily="34" charset="-122"/>
                <a:cs typeface="Courier New" pitchFamily="34" charset="-120"/>
              </a:rPr>
              <a:t>TODO: fill this in</a:t>
            </a:r>
            <a:endParaRPr lang="en-US" sz="1150" dirty="0"/>
          </a:p>
        </p:txBody>
      </p:sp>
      <p:sp>
        <p:nvSpPr>
          <p:cNvPr id="27" name="Text 25"/>
          <p:cNvSpPr txBox="1"/>
          <p:nvPr/>
        </p:nvSpPr>
        <p:spPr>
          <a:xfrm>
            <a:off x="7178040" y="3621024"/>
            <a:ext cx="4114800" cy="256032"/>
          </a:xfrm>
          <a:prstGeom prst="rect">
            <a:avLst/>
          </a:prstGeom>
          <a:noFill/>
          <a:ln/>
        </p:spPr>
        <p:txBody>
          <a:bodyPr wrap="square" lIns="0" tIns="0" rIns="0" bIns="0" rtlCol="0" anchor="ctr"/>
          <a:lstStyle/>
          <a:p>
            <a:pPr indent="0" marL="0">
              <a:buNone/>
            </a:pPr>
            <a:r>
              <a:rPr lang="en-US" sz="1150" dirty="0">
                <a:solidFill>
                  <a:srgbClr val="8CA394"/>
                </a:solidFill>
                <a:latin typeface="Courier New" pitchFamily="34" charset="0"/>
                <a:ea typeface="Courier New" pitchFamily="34" charset="-122"/>
                <a:cs typeface="Courier New" pitchFamily="34" charset="-120"/>
              </a:rPr>
              <a:t> </a:t>
            </a:r>
            <a:endParaRPr lang="en-US" sz="1150" dirty="0"/>
          </a:p>
        </p:txBody>
      </p:sp>
      <p:sp>
        <p:nvSpPr>
          <p:cNvPr id="28" name="Text 26"/>
          <p:cNvSpPr txBox="1"/>
          <p:nvPr/>
        </p:nvSpPr>
        <p:spPr>
          <a:xfrm>
            <a:off x="7178040" y="3895344"/>
            <a:ext cx="4114800" cy="256032"/>
          </a:xfrm>
          <a:prstGeom prst="rect">
            <a:avLst/>
          </a:prstGeom>
          <a:noFill/>
          <a:ln/>
        </p:spPr>
        <p:txBody>
          <a:bodyPr wrap="square" lIns="0" tIns="0" rIns="0" bIns="0" rtlCol="0" anchor="ctr"/>
          <a:lstStyle/>
          <a:p>
            <a:pPr indent="0" marL="0">
              <a:buNone/>
            </a:pPr>
            <a:r>
              <a:rPr lang="en-US" sz="1150" dirty="0">
                <a:solidFill>
                  <a:srgbClr val="8CA394"/>
                </a:solidFill>
                <a:latin typeface="Courier New" pitchFamily="34" charset="0"/>
                <a:ea typeface="Courier New" pitchFamily="34" charset="-122"/>
                <a:cs typeface="Courier New" pitchFamily="34" charset="-120"/>
              </a:rPr>
              <a:t> </a:t>
            </a:r>
            <a:endParaRPr lang="en-US" sz="1150" dirty="0"/>
          </a:p>
        </p:txBody>
      </p:sp>
      <p:sp>
        <p:nvSpPr>
          <p:cNvPr id="29" name="Text 27"/>
          <p:cNvSpPr txBox="1"/>
          <p:nvPr/>
        </p:nvSpPr>
        <p:spPr>
          <a:xfrm>
            <a:off x="7178040" y="4169664"/>
            <a:ext cx="4114800" cy="256032"/>
          </a:xfrm>
          <a:prstGeom prst="rect">
            <a:avLst/>
          </a:prstGeom>
          <a:noFill/>
          <a:ln/>
        </p:spPr>
        <p:txBody>
          <a:bodyPr wrap="square" lIns="0" tIns="0" rIns="0" bIns="0" rtlCol="0" anchor="ctr"/>
          <a:lstStyle/>
          <a:p>
            <a:pPr indent="0" marL="0">
              <a:buNone/>
            </a:pPr>
            <a:r>
              <a:rPr lang="en-US" sz="1150" i="1" dirty="0">
                <a:solidFill>
                  <a:srgbClr val="5E7266"/>
                </a:solidFill>
                <a:latin typeface="Courier New" pitchFamily="34" charset="0"/>
                <a:ea typeface="Courier New" pitchFamily="34" charset="-122"/>
                <a:cs typeface="Courier New" pitchFamily="34" charset="-120"/>
              </a:rPr>
              <a:t>— last edited 8 months ago,</a:t>
            </a:r>
            <a:endParaRPr lang="en-US" sz="1150" dirty="0"/>
          </a:p>
        </p:txBody>
      </p:sp>
      <p:sp>
        <p:nvSpPr>
          <p:cNvPr id="30" name="Text 28"/>
          <p:cNvSpPr txBox="1"/>
          <p:nvPr/>
        </p:nvSpPr>
        <p:spPr>
          <a:xfrm>
            <a:off x="7178040" y="4443984"/>
            <a:ext cx="4114800" cy="256032"/>
          </a:xfrm>
          <a:prstGeom prst="rect">
            <a:avLst/>
          </a:prstGeom>
          <a:noFill/>
          <a:ln/>
        </p:spPr>
        <p:txBody>
          <a:bodyPr wrap="square" lIns="0" tIns="0" rIns="0" bIns="0" rtlCol="0" anchor="ctr"/>
          <a:lstStyle/>
          <a:p>
            <a:pPr indent="0" marL="0">
              <a:buNone/>
            </a:pPr>
            <a:r>
              <a:rPr lang="en-US" sz="1150" i="1" dirty="0">
                <a:solidFill>
                  <a:srgbClr val="5E7266"/>
                </a:solidFill>
                <a:latin typeface="Courier New" pitchFamily="34" charset="0"/>
                <a:ea typeface="Courier New" pitchFamily="34" charset="-122"/>
                <a:cs typeface="Courier New" pitchFamily="34" charset="-120"/>
              </a:rPr>
              <a:t>  by whoever set the repo up,</a:t>
            </a:r>
            <a:endParaRPr lang="en-US" sz="1150" dirty="0"/>
          </a:p>
        </p:txBody>
      </p:sp>
      <p:sp>
        <p:nvSpPr>
          <p:cNvPr id="31" name="Text 29"/>
          <p:cNvSpPr txBox="1"/>
          <p:nvPr/>
        </p:nvSpPr>
        <p:spPr>
          <a:xfrm>
            <a:off x="7178040" y="4718304"/>
            <a:ext cx="4114800" cy="256032"/>
          </a:xfrm>
          <a:prstGeom prst="rect">
            <a:avLst/>
          </a:prstGeom>
          <a:noFill/>
          <a:ln/>
        </p:spPr>
        <p:txBody>
          <a:bodyPr wrap="square" lIns="0" tIns="0" rIns="0" bIns="0" rtlCol="0" anchor="ctr"/>
          <a:lstStyle/>
          <a:p>
            <a:pPr indent="0" marL="0">
              <a:buNone/>
            </a:pPr>
            <a:r>
              <a:rPr lang="en-US" sz="1150" i="1" dirty="0">
                <a:solidFill>
                  <a:srgbClr val="5E7266"/>
                </a:solidFill>
                <a:latin typeface="Courier New" pitchFamily="34" charset="0"/>
                <a:ea typeface="Courier New" pitchFamily="34" charset="-122"/>
                <a:cs typeface="Courier New" pitchFamily="34" charset="-120"/>
              </a:rPr>
              <a:t>  never opened since.</a:t>
            </a:r>
            <a:endParaRPr lang="en-US" sz="1150" dirty="0"/>
          </a:p>
        </p:txBody>
      </p:sp>
      <p:sp>
        <p:nvSpPr>
          <p:cNvPr id="32" name="Text 30"/>
          <p:cNvSpPr txBox="1"/>
          <p:nvPr/>
        </p:nvSpPr>
        <p:spPr>
          <a:xfrm>
            <a:off x="7178040" y="5138928"/>
            <a:ext cx="4114800" cy="365760"/>
          </a:xfrm>
          <a:prstGeom prst="rect">
            <a:avLst/>
          </a:prstGeom>
          <a:noFill/>
          <a:ln/>
        </p:spPr>
        <p:txBody>
          <a:bodyPr wrap="square" lIns="0" tIns="0" rIns="0" bIns="0" rtlCol="0" anchor="ctr"/>
          <a:lstStyle/>
          <a:p>
            <a:pPr indent="0" marL="0">
              <a:buNone/>
            </a:pPr>
            <a:r>
              <a:rPr lang="en-US" sz="1300" b="1" dirty="0">
                <a:solidFill>
                  <a:srgbClr val="F0B429"/>
                </a:solidFill>
                <a:latin typeface="Calibri" pitchFamily="34" charset="0"/>
                <a:ea typeface="Calibri" pitchFamily="34" charset="-122"/>
                <a:cs typeface="Calibri" pitchFamily="34" charset="-120"/>
              </a:rPr>
              <a:t>Written by hand, once. Never updated. Trusted anyway.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0D"/>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56032"/>
          </a:xfrm>
          <a:prstGeom prst="rect">
            <a:avLst/>
          </a:prstGeom>
          <a:noFill/>
          <a:ln/>
        </p:spPr>
        <p:txBody>
          <a:bodyPr wrap="square" lIns="0" tIns="0" rIns="0" bIns="0" rtlCol="0" anchor="ctr"/>
          <a:lstStyle/>
          <a:p>
            <a:pPr indent="0" marL="0">
              <a:buNone/>
            </a:pPr>
            <a:r>
              <a:rPr lang="en-US" sz="1100" spc="150" kern="0" dirty="0">
                <a:solidFill>
                  <a:srgbClr val="4ADE80"/>
                </a:solidFill>
                <a:latin typeface="Courier New" pitchFamily="34" charset="0"/>
                <a:ea typeface="Courier New" pitchFamily="34" charset="-122"/>
                <a:cs typeface="Courier New" pitchFamily="34" charset="-120"/>
              </a:rPr>
              <a:t>WHAT IT DOES</a:t>
            </a:r>
            <a:endParaRPr lang="en-US" sz="11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3400" b="1" dirty="0">
                <a:solidFill>
                  <a:srgbClr val="EAF2EC"/>
                </a:solidFill>
                <a:latin typeface="Arial" pitchFamily="34" charset="0"/>
                <a:ea typeface="Arial" pitchFamily="34" charset="-122"/>
                <a:cs typeface="Arial" pitchFamily="34" charset="-120"/>
              </a:rPr>
              <a:t>One URL in. Four things out.</a:t>
            </a:r>
            <a:endParaRPr lang="en-US" sz="3400" dirty="0"/>
          </a:p>
        </p:txBody>
      </p:sp>
      <p:sp>
        <p:nvSpPr>
          <p:cNvPr id="4" name="Shape 2"/>
          <p:cNvSpPr/>
          <p:nvPr/>
        </p:nvSpPr>
        <p:spPr>
          <a:xfrm>
            <a:off x="640080" y="1572768"/>
            <a:ext cx="5257800" cy="1883664"/>
          </a:xfrm>
          <a:prstGeom prst="roundRect">
            <a:avLst>
              <a:gd name="adj" fmla="val 4369"/>
            </a:avLst>
          </a:prstGeom>
          <a:solidFill>
            <a:srgbClr val="151E18"/>
          </a:solidFill>
          <a:ln w="12700">
            <a:solidFill>
              <a:srgbClr val="1D2A22"/>
            </a:solidFill>
            <a:prstDash val="solid"/>
          </a:ln>
        </p:spPr>
      </p:sp>
      <p:sp>
        <p:nvSpPr>
          <p:cNvPr id="5" name="Shape 3"/>
          <p:cNvSpPr/>
          <p:nvPr/>
        </p:nvSpPr>
        <p:spPr>
          <a:xfrm>
            <a:off x="950976" y="1865376"/>
            <a:ext cx="365760" cy="365760"/>
          </a:xfrm>
          <a:prstGeom prst="ellipse">
            <a:avLst/>
          </a:prstGeom>
          <a:solidFill>
            <a:srgbClr val="4ADE80"/>
          </a:solidFill>
          <a:ln w="12700">
            <a:solidFill>
              <a:srgbClr val="4ADE80"/>
            </a:solidFill>
            <a:prstDash val="solid"/>
          </a:ln>
        </p:spPr>
      </p:sp>
      <p:sp>
        <p:nvSpPr>
          <p:cNvPr id="6" name="Text 4"/>
          <p:cNvSpPr txBox="1"/>
          <p:nvPr/>
        </p:nvSpPr>
        <p:spPr>
          <a:xfrm>
            <a:off x="950976" y="1865376"/>
            <a:ext cx="365760" cy="365760"/>
          </a:xfrm>
          <a:prstGeom prst="rect">
            <a:avLst/>
          </a:prstGeom>
          <a:noFill/>
          <a:ln/>
        </p:spPr>
        <p:txBody>
          <a:bodyPr wrap="square" lIns="0" tIns="0" rIns="0" bIns="0" rtlCol="0" anchor="ctr"/>
          <a:lstStyle/>
          <a:p>
            <a:pPr algn="ctr" indent="0" marL="0">
              <a:buNone/>
            </a:pPr>
            <a:r>
              <a:rPr lang="en-US" sz="1300" b="1" dirty="0">
                <a:solidFill>
                  <a:srgbClr val="0B100D"/>
                </a:solidFill>
                <a:latin typeface="Courier New" pitchFamily="34" charset="0"/>
                <a:ea typeface="Courier New" pitchFamily="34" charset="-122"/>
                <a:cs typeface="Courier New" pitchFamily="34" charset="-120"/>
              </a:rPr>
              <a:t>1</a:t>
            </a:r>
            <a:endParaRPr lang="en-US" sz="1300" dirty="0"/>
          </a:p>
        </p:txBody>
      </p:sp>
      <p:sp>
        <p:nvSpPr>
          <p:cNvPr id="7" name="Text 5"/>
          <p:cNvSpPr txBox="1"/>
          <p:nvPr/>
        </p:nvSpPr>
        <p:spPr>
          <a:xfrm>
            <a:off x="1481328" y="1874520"/>
            <a:ext cx="4206240" cy="347472"/>
          </a:xfrm>
          <a:prstGeom prst="rect">
            <a:avLst/>
          </a:prstGeom>
          <a:noFill/>
          <a:ln/>
        </p:spPr>
        <p:txBody>
          <a:bodyPr wrap="square" lIns="0" tIns="0" rIns="0" bIns="0" rtlCol="0" anchor="ctr"/>
          <a:lstStyle/>
          <a:p>
            <a:pPr indent="0" marL="0">
              <a:buNone/>
            </a:pPr>
            <a:r>
              <a:rPr lang="en-US" sz="1900" b="1" dirty="0">
                <a:solidFill>
                  <a:srgbClr val="EAF2EC"/>
                </a:solidFill>
                <a:latin typeface="Calibri" pitchFamily="34" charset="0"/>
                <a:ea typeface="Calibri" pitchFamily="34" charset="-122"/>
                <a:cs typeface="Calibri" pitchFamily="34" charset="-120"/>
              </a:rPr>
              <a:t>Repo map</a:t>
            </a:r>
            <a:endParaRPr lang="en-US" sz="1900" dirty="0"/>
          </a:p>
        </p:txBody>
      </p:sp>
      <p:sp>
        <p:nvSpPr>
          <p:cNvPr id="8" name="Text 6"/>
          <p:cNvSpPr txBox="1"/>
          <p:nvPr/>
        </p:nvSpPr>
        <p:spPr>
          <a:xfrm>
            <a:off x="969264" y="2414016"/>
            <a:ext cx="4617720" cy="877824"/>
          </a:xfrm>
          <a:prstGeom prst="rect">
            <a:avLst/>
          </a:prstGeom>
          <a:noFill/>
          <a:ln/>
        </p:spPr>
        <p:txBody>
          <a:bodyPr wrap="square" lIns="0" tIns="0" rIns="0" bIns="0" rtlCol="0" anchor="ctr"/>
          <a:lstStyle/>
          <a:p>
            <a:pPr indent="0" marL="0">
              <a:lnSpc>
                <a:spcPts val="1900"/>
              </a:lnSpc>
              <a:buNone/>
            </a:pPr>
            <a:r>
              <a:rPr lang="en-US" sz="1350" dirty="0">
                <a:solidFill>
                  <a:srgbClr val="8CA394"/>
                </a:solidFill>
                <a:latin typeface="Calibri" pitchFamily="34" charset="0"/>
                <a:ea typeface="Calibri" pitchFamily="34" charset="-122"/>
                <a:cs typeface="Calibri" pitchFamily="34" charset="-120"/>
              </a:rPr>
              <a:t>Detected stack, entrypoints, top-level directory roles, and the real dev / build / test / lint commands — each shown with the file it came from.</a:t>
            </a:r>
            <a:endParaRPr lang="en-US" sz="1350" dirty="0"/>
          </a:p>
        </p:txBody>
      </p:sp>
      <p:sp>
        <p:nvSpPr>
          <p:cNvPr id="9" name="Shape 7"/>
          <p:cNvSpPr/>
          <p:nvPr/>
        </p:nvSpPr>
        <p:spPr>
          <a:xfrm>
            <a:off x="6263640" y="1572768"/>
            <a:ext cx="5257800" cy="1883664"/>
          </a:xfrm>
          <a:prstGeom prst="roundRect">
            <a:avLst>
              <a:gd name="adj" fmla="val 4369"/>
            </a:avLst>
          </a:prstGeom>
          <a:solidFill>
            <a:srgbClr val="151E18"/>
          </a:solidFill>
          <a:ln w="12700">
            <a:solidFill>
              <a:srgbClr val="1D2A22"/>
            </a:solidFill>
            <a:prstDash val="solid"/>
          </a:ln>
        </p:spPr>
      </p:sp>
      <p:sp>
        <p:nvSpPr>
          <p:cNvPr id="10" name="Shape 8"/>
          <p:cNvSpPr/>
          <p:nvPr/>
        </p:nvSpPr>
        <p:spPr>
          <a:xfrm>
            <a:off x="6574536" y="1865376"/>
            <a:ext cx="365760" cy="365760"/>
          </a:xfrm>
          <a:prstGeom prst="ellipse">
            <a:avLst/>
          </a:prstGeom>
          <a:solidFill>
            <a:srgbClr val="4ADE80"/>
          </a:solidFill>
          <a:ln w="12700">
            <a:solidFill>
              <a:srgbClr val="4ADE80"/>
            </a:solidFill>
            <a:prstDash val="solid"/>
          </a:ln>
        </p:spPr>
      </p:sp>
      <p:sp>
        <p:nvSpPr>
          <p:cNvPr id="11" name="Text 9"/>
          <p:cNvSpPr txBox="1"/>
          <p:nvPr/>
        </p:nvSpPr>
        <p:spPr>
          <a:xfrm>
            <a:off x="6574536" y="1865376"/>
            <a:ext cx="365760" cy="365760"/>
          </a:xfrm>
          <a:prstGeom prst="rect">
            <a:avLst/>
          </a:prstGeom>
          <a:noFill/>
          <a:ln/>
        </p:spPr>
        <p:txBody>
          <a:bodyPr wrap="square" lIns="0" tIns="0" rIns="0" bIns="0" rtlCol="0" anchor="ctr"/>
          <a:lstStyle/>
          <a:p>
            <a:pPr algn="ctr" indent="0" marL="0">
              <a:buNone/>
            </a:pPr>
            <a:r>
              <a:rPr lang="en-US" sz="1300" b="1" dirty="0">
                <a:solidFill>
                  <a:srgbClr val="0B100D"/>
                </a:solidFill>
                <a:latin typeface="Courier New" pitchFamily="34" charset="0"/>
                <a:ea typeface="Courier New" pitchFamily="34" charset="-122"/>
                <a:cs typeface="Courier New" pitchFamily="34" charset="-120"/>
              </a:rPr>
              <a:t>2</a:t>
            </a:r>
            <a:endParaRPr lang="en-US" sz="1300" dirty="0"/>
          </a:p>
        </p:txBody>
      </p:sp>
      <p:sp>
        <p:nvSpPr>
          <p:cNvPr id="12" name="Text 10"/>
          <p:cNvSpPr txBox="1"/>
          <p:nvPr/>
        </p:nvSpPr>
        <p:spPr>
          <a:xfrm>
            <a:off x="7104888" y="1874520"/>
            <a:ext cx="4206240" cy="347472"/>
          </a:xfrm>
          <a:prstGeom prst="rect">
            <a:avLst/>
          </a:prstGeom>
          <a:noFill/>
          <a:ln/>
        </p:spPr>
        <p:txBody>
          <a:bodyPr wrap="square" lIns="0" tIns="0" rIns="0" bIns="0" rtlCol="0" anchor="ctr"/>
          <a:lstStyle/>
          <a:p>
            <a:pPr indent="0" marL="0">
              <a:buNone/>
            </a:pPr>
            <a:r>
              <a:rPr lang="en-US" sz="1900" b="1" dirty="0">
                <a:solidFill>
                  <a:srgbClr val="EAF2EC"/>
                </a:solidFill>
                <a:latin typeface="Calibri" pitchFamily="34" charset="0"/>
                <a:ea typeface="Calibri" pitchFamily="34" charset="-122"/>
                <a:cs typeface="Calibri" pitchFamily="34" charset="-120"/>
              </a:rPr>
              <a:t>Landmine report</a:t>
            </a:r>
            <a:endParaRPr lang="en-US" sz="1900" dirty="0"/>
          </a:p>
        </p:txBody>
      </p:sp>
      <p:sp>
        <p:nvSpPr>
          <p:cNvPr id="13" name="Text 11"/>
          <p:cNvSpPr txBox="1"/>
          <p:nvPr/>
        </p:nvSpPr>
        <p:spPr>
          <a:xfrm>
            <a:off x="6592824" y="2414016"/>
            <a:ext cx="4617720" cy="877824"/>
          </a:xfrm>
          <a:prstGeom prst="rect">
            <a:avLst/>
          </a:prstGeom>
          <a:noFill/>
          <a:ln/>
        </p:spPr>
        <p:txBody>
          <a:bodyPr wrap="square" lIns="0" tIns="0" rIns="0" bIns="0" rtlCol="0" anchor="ctr"/>
          <a:lstStyle/>
          <a:p>
            <a:pPr indent="0" marL="0">
              <a:lnSpc>
                <a:spcPts val="1900"/>
              </a:lnSpc>
              <a:buNone/>
            </a:pPr>
            <a:r>
              <a:rPr lang="en-US" sz="1350" dirty="0">
                <a:solidFill>
                  <a:srgbClr val="8CA394"/>
                </a:solidFill>
                <a:latin typeface="Calibri" pitchFamily="34" charset="0"/>
                <a:ea typeface="Calibri" pitchFamily="34" charset="-122"/>
                <a:cs typeface="Calibri" pitchFamily="34" charset="-120"/>
              </a:rPr>
              <a:t>The things that make an agent fail. Four deterministic checks, every finding carrying a file path and a line.</a:t>
            </a:r>
            <a:endParaRPr lang="en-US" sz="1350" dirty="0"/>
          </a:p>
        </p:txBody>
      </p:sp>
      <p:sp>
        <p:nvSpPr>
          <p:cNvPr id="14" name="Shape 12"/>
          <p:cNvSpPr/>
          <p:nvPr/>
        </p:nvSpPr>
        <p:spPr>
          <a:xfrm>
            <a:off x="640080" y="3730752"/>
            <a:ext cx="5257800" cy="1883664"/>
          </a:xfrm>
          <a:prstGeom prst="roundRect">
            <a:avLst>
              <a:gd name="adj" fmla="val 4369"/>
            </a:avLst>
          </a:prstGeom>
          <a:solidFill>
            <a:srgbClr val="151E18"/>
          </a:solidFill>
          <a:ln w="12700">
            <a:solidFill>
              <a:srgbClr val="1D2A22"/>
            </a:solidFill>
            <a:prstDash val="solid"/>
          </a:ln>
        </p:spPr>
      </p:sp>
      <p:sp>
        <p:nvSpPr>
          <p:cNvPr id="15" name="Shape 13"/>
          <p:cNvSpPr/>
          <p:nvPr/>
        </p:nvSpPr>
        <p:spPr>
          <a:xfrm>
            <a:off x="950976" y="4023360"/>
            <a:ext cx="365760" cy="365760"/>
          </a:xfrm>
          <a:prstGeom prst="ellipse">
            <a:avLst/>
          </a:prstGeom>
          <a:solidFill>
            <a:srgbClr val="4ADE80"/>
          </a:solidFill>
          <a:ln w="12700">
            <a:solidFill>
              <a:srgbClr val="4ADE80"/>
            </a:solidFill>
            <a:prstDash val="solid"/>
          </a:ln>
        </p:spPr>
      </p:sp>
      <p:sp>
        <p:nvSpPr>
          <p:cNvPr id="16" name="Text 14"/>
          <p:cNvSpPr txBox="1"/>
          <p:nvPr/>
        </p:nvSpPr>
        <p:spPr>
          <a:xfrm>
            <a:off x="950976" y="4023360"/>
            <a:ext cx="365760" cy="365760"/>
          </a:xfrm>
          <a:prstGeom prst="rect">
            <a:avLst/>
          </a:prstGeom>
          <a:noFill/>
          <a:ln/>
        </p:spPr>
        <p:txBody>
          <a:bodyPr wrap="square" lIns="0" tIns="0" rIns="0" bIns="0" rtlCol="0" anchor="ctr"/>
          <a:lstStyle/>
          <a:p>
            <a:pPr algn="ctr" indent="0" marL="0">
              <a:buNone/>
            </a:pPr>
            <a:r>
              <a:rPr lang="en-US" sz="1300" b="1" dirty="0">
                <a:solidFill>
                  <a:srgbClr val="0B100D"/>
                </a:solidFill>
                <a:latin typeface="Courier New" pitchFamily="34" charset="0"/>
                <a:ea typeface="Courier New" pitchFamily="34" charset="-122"/>
                <a:cs typeface="Courier New" pitchFamily="34" charset="-120"/>
              </a:rPr>
              <a:t>3</a:t>
            </a:r>
            <a:endParaRPr lang="en-US" sz="1300" dirty="0"/>
          </a:p>
        </p:txBody>
      </p:sp>
      <p:sp>
        <p:nvSpPr>
          <p:cNvPr id="17" name="Text 15"/>
          <p:cNvSpPr txBox="1"/>
          <p:nvPr/>
        </p:nvSpPr>
        <p:spPr>
          <a:xfrm>
            <a:off x="1481328" y="4032504"/>
            <a:ext cx="4206240" cy="347472"/>
          </a:xfrm>
          <a:prstGeom prst="rect">
            <a:avLst/>
          </a:prstGeom>
          <a:noFill/>
          <a:ln/>
        </p:spPr>
        <p:txBody>
          <a:bodyPr wrap="square" lIns="0" tIns="0" rIns="0" bIns="0" rtlCol="0" anchor="ctr"/>
          <a:lstStyle/>
          <a:p>
            <a:pPr indent="0" marL="0">
              <a:buNone/>
            </a:pPr>
            <a:r>
              <a:rPr lang="en-US" sz="1900" b="1" dirty="0">
                <a:solidFill>
                  <a:srgbClr val="EAF2EC"/>
                </a:solidFill>
                <a:latin typeface="Calibri" pitchFamily="34" charset="0"/>
                <a:ea typeface="Calibri" pitchFamily="34" charset="-122"/>
                <a:cs typeface="Calibri" pitchFamily="34" charset="-120"/>
              </a:rPr>
              <a:t>A generated AGENTS.md</a:t>
            </a:r>
            <a:endParaRPr lang="en-US" sz="1900" dirty="0"/>
          </a:p>
        </p:txBody>
      </p:sp>
      <p:sp>
        <p:nvSpPr>
          <p:cNvPr id="18" name="Text 16"/>
          <p:cNvSpPr txBox="1"/>
          <p:nvPr/>
        </p:nvSpPr>
        <p:spPr>
          <a:xfrm>
            <a:off x="969264" y="4572000"/>
            <a:ext cx="4617720" cy="877824"/>
          </a:xfrm>
          <a:prstGeom prst="rect">
            <a:avLst/>
          </a:prstGeom>
          <a:noFill/>
          <a:ln/>
        </p:spPr>
        <p:txBody>
          <a:bodyPr wrap="square" lIns="0" tIns="0" rIns="0" bIns="0" rtlCol="0" anchor="ctr"/>
          <a:lstStyle/>
          <a:p>
            <a:pPr indent="0" marL="0">
              <a:lnSpc>
                <a:spcPts val="1900"/>
              </a:lnSpc>
              <a:buNone/>
            </a:pPr>
            <a:r>
              <a:rPr lang="en-US" sz="1350" dirty="0">
                <a:solidFill>
                  <a:srgbClr val="8CA394"/>
                </a:solidFill>
                <a:latin typeface="Calibri" pitchFamily="34" charset="0"/>
                <a:ea typeface="Calibri" pitchFamily="34" charset="-122"/>
                <a:cs typeface="Calibri" pitchFamily="34" charset="-120"/>
              </a:rPr>
              <a:t>Built from what is actually in the repo. Copy it or download it straight into the project you scanned.</a:t>
            </a:r>
            <a:endParaRPr lang="en-US" sz="1350" dirty="0"/>
          </a:p>
        </p:txBody>
      </p:sp>
      <p:sp>
        <p:nvSpPr>
          <p:cNvPr id="19" name="Shape 17"/>
          <p:cNvSpPr/>
          <p:nvPr/>
        </p:nvSpPr>
        <p:spPr>
          <a:xfrm>
            <a:off x="6263640" y="3730752"/>
            <a:ext cx="5257800" cy="1883664"/>
          </a:xfrm>
          <a:prstGeom prst="roundRect">
            <a:avLst>
              <a:gd name="adj" fmla="val 4369"/>
            </a:avLst>
          </a:prstGeom>
          <a:solidFill>
            <a:srgbClr val="151E18"/>
          </a:solidFill>
          <a:ln w="12700">
            <a:solidFill>
              <a:srgbClr val="1D2A22"/>
            </a:solidFill>
            <a:prstDash val="solid"/>
          </a:ln>
        </p:spPr>
      </p:sp>
      <p:sp>
        <p:nvSpPr>
          <p:cNvPr id="20" name="Shape 18"/>
          <p:cNvSpPr/>
          <p:nvPr/>
        </p:nvSpPr>
        <p:spPr>
          <a:xfrm>
            <a:off x="6574536" y="4023360"/>
            <a:ext cx="365760" cy="365760"/>
          </a:xfrm>
          <a:prstGeom prst="ellipse">
            <a:avLst/>
          </a:prstGeom>
          <a:solidFill>
            <a:srgbClr val="4ADE80"/>
          </a:solidFill>
          <a:ln w="12700">
            <a:solidFill>
              <a:srgbClr val="4ADE80"/>
            </a:solidFill>
            <a:prstDash val="solid"/>
          </a:ln>
        </p:spPr>
      </p:sp>
      <p:sp>
        <p:nvSpPr>
          <p:cNvPr id="21" name="Text 19"/>
          <p:cNvSpPr txBox="1"/>
          <p:nvPr/>
        </p:nvSpPr>
        <p:spPr>
          <a:xfrm>
            <a:off x="6574536" y="4023360"/>
            <a:ext cx="365760" cy="365760"/>
          </a:xfrm>
          <a:prstGeom prst="rect">
            <a:avLst/>
          </a:prstGeom>
          <a:noFill/>
          <a:ln/>
        </p:spPr>
        <p:txBody>
          <a:bodyPr wrap="square" lIns="0" tIns="0" rIns="0" bIns="0" rtlCol="0" anchor="ctr"/>
          <a:lstStyle/>
          <a:p>
            <a:pPr algn="ctr" indent="0" marL="0">
              <a:buNone/>
            </a:pPr>
            <a:r>
              <a:rPr lang="en-US" sz="1300" b="1" dirty="0">
                <a:solidFill>
                  <a:srgbClr val="0B100D"/>
                </a:solidFill>
                <a:latin typeface="Courier New" pitchFamily="34" charset="0"/>
                <a:ea typeface="Courier New" pitchFamily="34" charset="-122"/>
                <a:cs typeface="Courier New" pitchFamily="34" charset="-120"/>
              </a:rPr>
              <a:t>4</a:t>
            </a:r>
            <a:endParaRPr lang="en-US" sz="1300" dirty="0"/>
          </a:p>
        </p:txBody>
      </p:sp>
      <p:sp>
        <p:nvSpPr>
          <p:cNvPr id="22" name="Text 20"/>
          <p:cNvSpPr txBox="1"/>
          <p:nvPr/>
        </p:nvSpPr>
        <p:spPr>
          <a:xfrm>
            <a:off x="7104888" y="4032504"/>
            <a:ext cx="4206240" cy="347472"/>
          </a:xfrm>
          <a:prstGeom prst="rect">
            <a:avLst/>
          </a:prstGeom>
          <a:noFill/>
          <a:ln/>
        </p:spPr>
        <p:txBody>
          <a:bodyPr wrap="square" lIns="0" tIns="0" rIns="0" bIns="0" rtlCol="0" anchor="ctr"/>
          <a:lstStyle/>
          <a:p>
            <a:pPr indent="0" marL="0">
              <a:buNone/>
            </a:pPr>
            <a:r>
              <a:rPr lang="en-US" sz="1900" b="1" dirty="0">
                <a:solidFill>
                  <a:srgbClr val="EAF2EC"/>
                </a:solidFill>
                <a:latin typeface="Calibri" pitchFamily="34" charset="0"/>
                <a:ea typeface="Calibri" pitchFamily="34" charset="-122"/>
                <a:cs typeface="Calibri" pitchFamily="34" charset="-120"/>
              </a:rPr>
              <a:t>Three Codex prompts</a:t>
            </a:r>
            <a:endParaRPr lang="en-US" sz="1900" dirty="0"/>
          </a:p>
        </p:txBody>
      </p:sp>
      <p:sp>
        <p:nvSpPr>
          <p:cNvPr id="23" name="Text 21"/>
          <p:cNvSpPr txBox="1"/>
          <p:nvPr/>
        </p:nvSpPr>
        <p:spPr>
          <a:xfrm>
            <a:off x="6592824" y="4572000"/>
            <a:ext cx="4617720" cy="877824"/>
          </a:xfrm>
          <a:prstGeom prst="rect">
            <a:avLst/>
          </a:prstGeom>
          <a:noFill/>
          <a:ln/>
        </p:spPr>
        <p:txBody>
          <a:bodyPr wrap="square" lIns="0" tIns="0" rIns="0" bIns="0" rtlCol="0" anchor="ctr"/>
          <a:lstStyle/>
          <a:p>
            <a:pPr indent="0" marL="0">
              <a:lnSpc>
                <a:spcPts val="1900"/>
              </a:lnSpc>
              <a:buNone/>
            </a:pPr>
            <a:r>
              <a:rPr lang="en-US" sz="1350" dirty="0">
                <a:solidFill>
                  <a:srgbClr val="8CA394"/>
                </a:solidFill>
                <a:latin typeface="Calibri" pitchFamily="34" charset="0"/>
                <a:ea typeface="Calibri" pitchFamily="34" charset="-122"/>
                <a:cs typeface="Calibri" pitchFamily="34" charset="-120"/>
              </a:rPr>
              <a:t>One model call turns the findings into three half-hour tasks, each written as a complete Goal / Context / Constraints / Done-when prompt.</a:t>
            </a:r>
            <a:endParaRPr lang="en-US" sz="1350" dirty="0"/>
          </a:p>
        </p:txBody>
      </p:sp>
      <p:sp>
        <p:nvSpPr>
          <p:cNvPr id="24" name="Text 22"/>
          <p:cNvSpPr txBox="1"/>
          <p:nvPr/>
        </p:nvSpPr>
        <p:spPr>
          <a:xfrm>
            <a:off x="640080" y="6053328"/>
            <a:ext cx="10881360" cy="310896"/>
          </a:xfrm>
          <a:prstGeom prst="rect">
            <a:avLst/>
          </a:prstGeom>
          <a:noFill/>
          <a:ln/>
        </p:spPr>
        <p:txBody>
          <a:bodyPr wrap="square" lIns="0" tIns="0" rIns="0" bIns="0" rtlCol="0" anchor="ctr"/>
          <a:lstStyle/>
          <a:p>
            <a:pPr indent="0" marL="0">
              <a:buNone/>
            </a:pPr>
            <a:r>
              <a:rPr lang="en-US" sz="1200" dirty="0">
                <a:solidFill>
                  <a:srgbClr val="4ADE80"/>
                </a:solidFill>
                <a:latin typeface="Courier New" pitchFamily="34" charset="0"/>
                <a:ea typeface="Courier New" pitchFamily="34" charset="-122"/>
                <a:cs typeface="Courier New" pitchFamily="34" charset="-120"/>
              </a:rPr>
              <a:t>About ten seconds. No clone, no install, no login.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0D"/>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56032"/>
          </a:xfrm>
          <a:prstGeom prst="rect">
            <a:avLst/>
          </a:prstGeom>
          <a:noFill/>
          <a:ln/>
        </p:spPr>
        <p:txBody>
          <a:bodyPr wrap="square" lIns="0" tIns="0" rIns="0" bIns="0" rtlCol="0" anchor="ctr"/>
          <a:lstStyle/>
          <a:p>
            <a:pPr indent="0" marL="0">
              <a:buNone/>
            </a:pPr>
            <a:r>
              <a:rPr lang="en-US" sz="1100" spc="150" kern="0" dirty="0">
                <a:solidFill>
                  <a:srgbClr val="4ADE80"/>
                </a:solidFill>
                <a:latin typeface="Courier New" pitchFamily="34" charset="0"/>
                <a:ea typeface="Courier New" pitchFamily="34" charset="-122"/>
                <a:cs typeface="Courier New" pitchFamily="34" charset="-120"/>
              </a:rPr>
              <a:t>THE LANDMINE REPORT</a:t>
            </a:r>
            <a:endParaRPr lang="en-US" sz="11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3400" b="1" dirty="0">
                <a:solidFill>
                  <a:srgbClr val="EAF2EC"/>
                </a:solidFill>
                <a:latin typeface="Arial" pitchFamily="34" charset="0"/>
                <a:ea typeface="Arial" pitchFamily="34" charset="-122"/>
                <a:cs typeface="Arial" pitchFamily="34" charset="-120"/>
              </a:rPr>
              <a:t>Four checks. Every finding cites a file.</a:t>
            </a:r>
            <a:endParaRPr lang="en-US" sz="3400" dirty="0"/>
          </a:p>
        </p:txBody>
      </p:sp>
      <p:sp>
        <p:nvSpPr>
          <p:cNvPr id="4" name="Shape 2"/>
          <p:cNvSpPr/>
          <p:nvPr/>
        </p:nvSpPr>
        <p:spPr>
          <a:xfrm>
            <a:off x="640080" y="1536192"/>
            <a:ext cx="10908792" cy="1042416"/>
          </a:xfrm>
          <a:prstGeom prst="roundRect">
            <a:avLst>
              <a:gd name="adj" fmla="val 7895"/>
            </a:avLst>
          </a:prstGeom>
          <a:solidFill>
            <a:srgbClr val="151E18"/>
          </a:solidFill>
          <a:ln w="12700">
            <a:solidFill>
              <a:srgbClr val="1D2A22"/>
            </a:solidFill>
            <a:prstDash val="solid"/>
          </a:ln>
        </p:spPr>
      </p:sp>
      <p:sp>
        <p:nvSpPr>
          <p:cNvPr id="5" name="Shape 3"/>
          <p:cNvSpPr/>
          <p:nvPr/>
        </p:nvSpPr>
        <p:spPr>
          <a:xfrm>
            <a:off x="932688" y="1947672"/>
            <a:ext cx="155448" cy="155448"/>
          </a:xfrm>
          <a:prstGeom prst="ellipse">
            <a:avLst/>
          </a:prstGeom>
          <a:solidFill>
            <a:srgbClr val="F0656F"/>
          </a:solidFill>
          <a:ln w="12700">
            <a:solidFill>
              <a:srgbClr val="F0656F"/>
            </a:solidFill>
            <a:prstDash val="solid"/>
          </a:ln>
        </p:spPr>
      </p:sp>
      <p:sp>
        <p:nvSpPr>
          <p:cNvPr id="6" name="Text 4"/>
          <p:cNvSpPr txBox="1"/>
          <p:nvPr/>
        </p:nvSpPr>
        <p:spPr>
          <a:xfrm>
            <a:off x="1225296" y="1709928"/>
            <a:ext cx="2468880" cy="292608"/>
          </a:xfrm>
          <a:prstGeom prst="rect">
            <a:avLst/>
          </a:prstGeom>
          <a:noFill/>
          <a:ln/>
        </p:spPr>
        <p:txBody>
          <a:bodyPr wrap="square" lIns="0" tIns="0" rIns="0" bIns="0" rtlCol="0" anchor="ctr"/>
          <a:lstStyle/>
          <a:p>
            <a:pPr indent="0" marL="0">
              <a:buNone/>
            </a:pPr>
            <a:r>
              <a:rPr lang="en-US" sz="1500" b="1" dirty="0">
                <a:solidFill>
                  <a:srgbClr val="F0656F"/>
                </a:solidFill>
                <a:latin typeface="Courier New" pitchFamily="34" charset="0"/>
                <a:ea typeface="Courier New" pitchFamily="34" charset="-122"/>
                <a:cs typeface="Courier New" pitchFamily="34" charset="-120"/>
              </a:rPr>
              <a:t>missing-env</a:t>
            </a:r>
            <a:endParaRPr lang="en-US" sz="1500" dirty="0"/>
          </a:p>
        </p:txBody>
      </p:sp>
      <p:sp>
        <p:nvSpPr>
          <p:cNvPr id="7" name="Text 5"/>
          <p:cNvSpPr txBox="1"/>
          <p:nvPr/>
        </p:nvSpPr>
        <p:spPr>
          <a:xfrm>
            <a:off x="1225296" y="2029968"/>
            <a:ext cx="5943600" cy="457200"/>
          </a:xfrm>
          <a:prstGeom prst="rect">
            <a:avLst/>
          </a:prstGeom>
          <a:noFill/>
          <a:ln/>
        </p:spPr>
        <p:txBody>
          <a:bodyPr wrap="square" lIns="0" tIns="0" rIns="0" bIns="0" rtlCol="0" anchor="ctr"/>
          <a:lstStyle/>
          <a:p>
            <a:pPr indent="0" marL="0">
              <a:lnSpc>
                <a:spcPts val="1700"/>
              </a:lnSpc>
              <a:buNone/>
            </a:pPr>
            <a:r>
              <a:rPr lang="en-US" sz="1300" dirty="0">
                <a:solidFill>
                  <a:srgbClr val="8CA394"/>
                </a:solidFill>
                <a:latin typeface="Calibri" pitchFamily="34" charset="0"/>
                <a:ea typeface="Calibri" pitchFamily="34" charset="-122"/>
                <a:cs typeface="Calibri" pitchFamily="34" charset="-120"/>
              </a:rPr>
              <a:t>Environment variables read in source with no .env.example and no README entry.</a:t>
            </a:r>
            <a:endParaRPr lang="en-US" sz="1300" dirty="0"/>
          </a:p>
        </p:txBody>
      </p:sp>
      <p:sp>
        <p:nvSpPr>
          <p:cNvPr id="8" name="Shape 6"/>
          <p:cNvSpPr/>
          <p:nvPr/>
        </p:nvSpPr>
        <p:spPr>
          <a:xfrm>
            <a:off x="7543800" y="1792224"/>
            <a:ext cx="3703320" cy="530352"/>
          </a:xfrm>
          <a:prstGeom prst="roundRect">
            <a:avLst>
              <a:gd name="adj" fmla="val 15517"/>
            </a:avLst>
          </a:prstGeom>
          <a:solidFill>
            <a:srgbClr val="1D2A22"/>
          </a:solidFill>
          <a:ln w="12700">
            <a:solidFill>
              <a:srgbClr val="1D2A22"/>
            </a:solidFill>
            <a:prstDash val="solid"/>
          </a:ln>
        </p:spPr>
      </p:sp>
      <p:sp>
        <p:nvSpPr>
          <p:cNvPr id="9" name="Text 7"/>
          <p:cNvSpPr txBox="1"/>
          <p:nvPr/>
        </p:nvSpPr>
        <p:spPr>
          <a:xfrm>
            <a:off x="7680960" y="1792224"/>
            <a:ext cx="3474720" cy="530352"/>
          </a:xfrm>
          <a:prstGeom prst="rect">
            <a:avLst/>
          </a:prstGeom>
          <a:noFill/>
          <a:ln/>
        </p:spPr>
        <p:txBody>
          <a:bodyPr wrap="square" lIns="0" tIns="0" rIns="0" bIns="0" rtlCol="0" anchor="ctr"/>
          <a:lstStyle/>
          <a:p>
            <a:pPr indent="0" marL="0">
              <a:buNone/>
            </a:pPr>
            <a:r>
              <a:rPr lang="en-US" sz="1000" dirty="0">
                <a:solidFill>
                  <a:srgbClr val="EAF2EC"/>
                </a:solidFill>
                <a:latin typeface="Courier New" pitchFamily="34" charset="0"/>
                <a:ea typeface="Courier New" pitchFamily="34" charset="-122"/>
                <a:cs typeface="Courier New" pitchFamily="34" charset="-120"/>
              </a:rPr>
              <a:t>lib/db.ts:14  process.env.DATABASE_URL</a:t>
            </a:r>
            <a:endParaRPr lang="en-US" sz="1000" dirty="0"/>
          </a:p>
        </p:txBody>
      </p:sp>
      <p:sp>
        <p:nvSpPr>
          <p:cNvPr id="10" name="Shape 8"/>
          <p:cNvSpPr/>
          <p:nvPr/>
        </p:nvSpPr>
        <p:spPr>
          <a:xfrm>
            <a:off x="640080" y="2715768"/>
            <a:ext cx="10908792" cy="1042416"/>
          </a:xfrm>
          <a:prstGeom prst="roundRect">
            <a:avLst>
              <a:gd name="adj" fmla="val 7895"/>
            </a:avLst>
          </a:prstGeom>
          <a:solidFill>
            <a:srgbClr val="151E18"/>
          </a:solidFill>
          <a:ln w="12700">
            <a:solidFill>
              <a:srgbClr val="1D2A22"/>
            </a:solidFill>
            <a:prstDash val="solid"/>
          </a:ln>
        </p:spPr>
      </p:sp>
      <p:sp>
        <p:nvSpPr>
          <p:cNvPr id="11" name="Shape 9"/>
          <p:cNvSpPr/>
          <p:nvPr/>
        </p:nvSpPr>
        <p:spPr>
          <a:xfrm>
            <a:off x="932688" y="3127248"/>
            <a:ext cx="155448" cy="155448"/>
          </a:xfrm>
          <a:prstGeom prst="ellipse">
            <a:avLst/>
          </a:prstGeom>
          <a:solidFill>
            <a:srgbClr val="F0B429"/>
          </a:solidFill>
          <a:ln w="12700">
            <a:solidFill>
              <a:srgbClr val="F0B429"/>
            </a:solidFill>
            <a:prstDash val="solid"/>
          </a:ln>
        </p:spPr>
      </p:sp>
      <p:sp>
        <p:nvSpPr>
          <p:cNvPr id="12" name="Text 10"/>
          <p:cNvSpPr txBox="1"/>
          <p:nvPr/>
        </p:nvSpPr>
        <p:spPr>
          <a:xfrm>
            <a:off x="1225296" y="2889504"/>
            <a:ext cx="2468880" cy="292608"/>
          </a:xfrm>
          <a:prstGeom prst="rect">
            <a:avLst/>
          </a:prstGeom>
          <a:noFill/>
          <a:ln/>
        </p:spPr>
        <p:txBody>
          <a:bodyPr wrap="square" lIns="0" tIns="0" rIns="0" bIns="0" rtlCol="0" anchor="ctr"/>
          <a:lstStyle/>
          <a:p>
            <a:pPr indent="0" marL="0">
              <a:buNone/>
            </a:pPr>
            <a:r>
              <a:rPr lang="en-US" sz="1500" b="1" dirty="0">
                <a:solidFill>
                  <a:srgbClr val="F0B429"/>
                </a:solidFill>
                <a:latin typeface="Courier New" pitchFamily="34" charset="0"/>
                <a:ea typeface="Courier New" pitchFamily="34" charset="-122"/>
                <a:cs typeface="Courier New" pitchFamily="34" charset="-120"/>
              </a:rPr>
              <a:t>command-drift</a:t>
            </a:r>
            <a:endParaRPr lang="en-US" sz="1500" dirty="0"/>
          </a:p>
        </p:txBody>
      </p:sp>
      <p:sp>
        <p:nvSpPr>
          <p:cNvPr id="13" name="Text 11"/>
          <p:cNvSpPr txBox="1"/>
          <p:nvPr/>
        </p:nvSpPr>
        <p:spPr>
          <a:xfrm>
            <a:off x="1225296" y="3209544"/>
            <a:ext cx="5943600" cy="457200"/>
          </a:xfrm>
          <a:prstGeom prst="rect">
            <a:avLst/>
          </a:prstGeom>
          <a:noFill/>
          <a:ln/>
        </p:spPr>
        <p:txBody>
          <a:bodyPr wrap="square" lIns="0" tIns="0" rIns="0" bIns="0" rtlCol="0" anchor="ctr"/>
          <a:lstStyle/>
          <a:p>
            <a:pPr indent="0" marL="0">
              <a:lnSpc>
                <a:spcPts val="1700"/>
              </a:lnSpc>
              <a:buNone/>
            </a:pPr>
            <a:r>
              <a:rPr lang="en-US" sz="1300" dirty="0">
                <a:solidFill>
                  <a:srgbClr val="8CA394"/>
                </a:solidFill>
                <a:latin typeface="Calibri" pitchFamily="34" charset="0"/>
                <a:ea typeface="Calibri" pitchFamily="34" charset="-122"/>
                <a:cs typeface="Calibri" pitchFamily="34" charset="-120"/>
              </a:rPr>
              <a:t>README commands that are not declared scripts or Makefile targets — and scripts the README never mentions.</a:t>
            </a:r>
            <a:endParaRPr lang="en-US" sz="1300" dirty="0"/>
          </a:p>
        </p:txBody>
      </p:sp>
      <p:sp>
        <p:nvSpPr>
          <p:cNvPr id="14" name="Shape 12"/>
          <p:cNvSpPr/>
          <p:nvPr/>
        </p:nvSpPr>
        <p:spPr>
          <a:xfrm>
            <a:off x="7543800" y="2971800"/>
            <a:ext cx="3703320" cy="530352"/>
          </a:xfrm>
          <a:prstGeom prst="roundRect">
            <a:avLst>
              <a:gd name="adj" fmla="val 15517"/>
            </a:avLst>
          </a:prstGeom>
          <a:solidFill>
            <a:srgbClr val="1D2A22"/>
          </a:solidFill>
          <a:ln w="12700">
            <a:solidFill>
              <a:srgbClr val="1D2A22"/>
            </a:solidFill>
            <a:prstDash val="solid"/>
          </a:ln>
        </p:spPr>
      </p:sp>
      <p:sp>
        <p:nvSpPr>
          <p:cNvPr id="15" name="Text 13"/>
          <p:cNvSpPr txBox="1"/>
          <p:nvPr/>
        </p:nvSpPr>
        <p:spPr>
          <a:xfrm>
            <a:off x="7680960" y="2971800"/>
            <a:ext cx="3474720" cy="530352"/>
          </a:xfrm>
          <a:prstGeom prst="rect">
            <a:avLst/>
          </a:prstGeom>
          <a:noFill/>
          <a:ln/>
        </p:spPr>
        <p:txBody>
          <a:bodyPr wrap="square" lIns="0" tIns="0" rIns="0" bIns="0" rtlCol="0" anchor="ctr"/>
          <a:lstStyle/>
          <a:p>
            <a:pPr indent="0" marL="0">
              <a:buNone/>
            </a:pPr>
            <a:r>
              <a:rPr lang="en-US" sz="1000" dirty="0">
                <a:solidFill>
                  <a:srgbClr val="EAF2EC"/>
                </a:solidFill>
                <a:latin typeface="Courier New" pitchFamily="34" charset="0"/>
                <a:ea typeface="Courier New" pitchFamily="34" charset="-122"/>
                <a:cs typeface="Courier New" pitchFamily="34" charset="-120"/>
              </a:rPr>
              <a:t>README.md:22  npm run serve  → not a script</a:t>
            </a:r>
            <a:endParaRPr lang="en-US" sz="1000" dirty="0"/>
          </a:p>
        </p:txBody>
      </p:sp>
      <p:sp>
        <p:nvSpPr>
          <p:cNvPr id="16" name="Shape 14"/>
          <p:cNvSpPr/>
          <p:nvPr/>
        </p:nvSpPr>
        <p:spPr>
          <a:xfrm>
            <a:off x="640080" y="3895344"/>
            <a:ext cx="10908792" cy="1042416"/>
          </a:xfrm>
          <a:prstGeom prst="roundRect">
            <a:avLst>
              <a:gd name="adj" fmla="val 7895"/>
            </a:avLst>
          </a:prstGeom>
          <a:solidFill>
            <a:srgbClr val="151E18"/>
          </a:solidFill>
          <a:ln w="12700">
            <a:solidFill>
              <a:srgbClr val="1D2A22"/>
            </a:solidFill>
            <a:prstDash val="solid"/>
          </a:ln>
        </p:spPr>
      </p:sp>
      <p:sp>
        <p:nvSpPr>
          <p:cNvPr id="17" name="Shape 15"/>
          <p:cNvSpPr/>
          <p:nvPr/>
        </p:nvSpPr>
        <p:spPr>
          <a:xfrm>
            <a:off x="932688" y="4306824"/>
            <a:ext cx="155448" cy="155448"/>
          </a:xfrm>
          <a:prstGeom prst="ellipse">
            <a:avLst/>
          </a:prstGeom>
          <a:solidFill>
            <a:srgbClr val="F0B429"/>
          </a:solidFill>
          <a:ln w="12700">
            <a:solidFill>
              <a:srgbClr val="F0B429"/>
            </a:solidFill>
            <a:prstDash val="solid"/>
          </a:ln>
        </p:spPr>
      </p:sp>
      <p:sp>
        <p:nvSpPr>
          <p:cNvPr id="18" name="Text 16"/>
          <p:cNvSpPr txBox="1"/>
          <p:nvPr/>
        </p:nvSpPr>
        <p:spPr>
          <a:xfrm>
            <a:off x="1225296" y="4069080"/>
            <a:ext cx="2468880" cy="292608"/>
          </a:xfrm>
          <a:prstGeom prst="rect">
            <a:avLst/>
          </a:prstGeom>
          <a:noFill/>
          <a:ln/>
        </p:spPr>
        <p:txBody>
          <a:bodyPr wrap="square" lIns="0" tIns="0" rIns="0" bIns="0" rtlCol="0" anchor="ctr"/>
          <a:lstStyle/>
          <a:p>
            <a:pPr indent="0" marL="0">
              <a:buNone/>
            </a:pPr>
            <a:r>
              <a:rPr lang="en-US" sz="1500" b="1" dirty="0">
                <a:solidFill>
                  <a:srgbClr val="F0B429"/>
                </a:solidFill>
                <a:latin typeface="Courier New" pitchFamily="34" charset="0"/>
                <a:ea typeface="Courier New" pitchFamily="34" charset="-122"/>
                <a:cs typeface="Courier New" pitchFamily="34" charset="-120"/>
              </a:rPr>
              <a:t>setup-gaps</a:t>
            </a:r>
            <a:endParaRPr lang="en-US" sz="1500" dirty="0"/>
          </a:p>
        </p:txBody>
      </p:sp>
      <p:sp>
        <p:nvSpPr>
          <p:cNvPr id="19" name="Text 17"/>
          <p:cNvSpPr txBox="1"/>
          <p:nvPr/>
        </p:nvSpPr>
        <p:spPr>
          <a:xfrm>
            <a:off x="1225296" y="4389120"/>
            <a:ext cx="5943600" cy="457200"/>
          </a:xfrm>
          <a:prstGeom prst="rect">
            <a:avLst/>
          </a:prstGeom>
          <a:noFill/>
          <a:ln/>
        </p:spPr>
        <p:txBody>
          <a:bodyPr wrap="square" lIns="0" tIns="0" rIns="0" bIns="0" rtlCol="0" anchor="ctr"/>
          <a:lstStyle/>
          <a:p>
            <a:pPr indent="0" marL="0">
              <a:lnSpc>
                <a:spcPts val="1700"/>
              </a:lnSpc>
              <a:buNone/>
            </a:pPr>
            <a:r>
              <a:rPr lang="en-US" sz="1300" dirty="0">
                <a:solidFill>
                  <a:srgbClr val="8CA394"/>
                </a:solidFill>
                <a:latin typeface="Calibri" pitchFamily="34" charset="0"/>
                <a:ea typeface="Calibri" pitchFamily="34" charset="-122"/>
                <a:cs typeface="Calibri" pitchFamily="34" charset="-120"/>
              </a:rPr>
              <a:t>No lockfile, no test command, no CI workflow, no README.</a:t>
            </a:r>
            <a:endParaRPr lang="en-US" sz="1300" dirty="0"/>
          </a:p>
        </p:txBody>
      </p:sp>
      <p:sp>
        <p:nvSpPr>
          <p:cNvPr id="20" name="Shape 18"/>
          <p:cNvSpPr/>
          <p:nvPr/>
        </p:nvSpPr>
        <p:spPr>
          <a:xfrm>
            <a:off x="7543800" y="4151376"/>
            <a:ext cx="3703320" cy="530352"/>
          </a:xfrm>
          <a:prstGeom prst="roundRect">
            <a:avLst>
              <a:gd name="adj" fmla="val 15517"/>
            </a:avLst>
          </a:prstGeom>
          <a:solidFill>
            <a:srgbClr val="1D2A22"/>
          </a:solidFill>
          <a:ln w="12700">
            <a:solidFill>
              <a:srgbClr val="1D2A22"/>
            </a:solidFill>
            <a:prstDash val="solid"/>
          </a:ln>
        </p:spPr>
      </p:sp>
      <p:sp>
        <p:nvSpPr>
          <p:cNvPr id="21" name="Text 19"/>
          <p:cNvSpPr txBox="1"/>
          <p:nvPr/>
        </p:nvSpPr>
        <p:spPr>
          <a:xfrm>
            <a:off x="7680960" y="4151376"/>
            <a:ext cx="3474720" cy="530352"/>
          </a:xfrm>
          <a:prstGeom prst="rect">
            <a:avLst/>
          </a:prstGeom>
          <a:noFill/>
          <a:ln/>
        </p:spPr>
        <p:txBody>
          <a:bodyPr wrap="square" lIns="0" tIns="0" rIns="0" bIns="0" rtlCol="0" anchor="ctr"/>
          <a:lstStyle/>
          <a:p>
            <a:pPr indent="0" marL="0">
              <a:buNone/>
            </a:pPr>
            <a:r>
              <a:rPr lang="en-US" sz="1000" dirty="0">
                <a:solidFill>
                  <a:srgbClr val="EAF2EC"/>
                </a:solidFill>
                <a:latin typeface="Courier New" pitchFamily="34" charset="0"/>
                <a:ea typeface="Courier New" pitchFamily="34" charset="-122"/>
                <a:cs typeface="Courier New" pitchFamily="34" charset="-120"/>
              </a:rPr>
              <a:t>.github/  no workflow file found</a:t>
            </a:r>
            <a:endParaRPr lang="en-US" sz="1000" dirty="0"/>
          </a:p>
        </p:txBody>
      </p:sp>
      <p:sp>
        <p:nvSpPr>
          <p:cNvPr id="22" name="Shape 20"/>
          <p:cNvSpPr/>
          <p:nvPr/>
        </p:nvSpPr>
        <p:spPr>
          <a:xfrm>
            <a:off x="640080" y="5074920"/>
            <a:ext cx="10908792" cy="1042416"/>
          </a:xfrm>
          <a:prstGeom prst="roundRect">
            <a:avLst>
              <a:gd name="adj" fmla="val 7895"/>
            </a:avLst>
          </a:prstGeom>
          <a:solidFill>
            <a:srgbClr val="151E18"/>
          </a:solidFill>
          <a:ln w="12700">
            <a:solidFill>
              <a:srgbClr val="1D2A22"/>
            </a:solidFill>
            <a:prstDash val="solid"/>
          </a:ln>
        </p:spPr>
      </p:sp>
      <p:sp>
        <p:nvSpPr>
          <p:cNvPr id="23" name="Shape 21"/>
          <p:cNvSpPr/>
          <p:nvPr/>
        </p:nvSpPr>
        <p:spPr>
          <a:xfrm>
            <a:off x="932688" y="5486400"/>
            <a:ext cx="155448" cy="155448"/>
          </a:xfrm>
          <a:prstGeom prst="ellipse">
            <a:avLst/>
          </a:prstGeom>
          <a:solidFill>
            <a:srgbClr val="4ADE80"/>
          </a:solidFill>
          <a:ln w="12700">
            <a:solidFill>
              <a:srgbClr val="4ADE80"/>
            </a:solidFill>
            <a:prstDash val="solid"/>
          </a:ln>
        </p:spPr>
      </p:sp>
      <p:sp>
        <p:nvSpPr>
          <p:cNvPr id="24" name="Text 22"/>
          <p:cNvSpPr txBox="1"/>
          <p:nvPr/>
        </p:nvSpPr>
        <p:spPr>
          <a:xfrm>
            <a:off x="1225296" y="5248656"/>
            <a:ext cx="2468880" cy="292608"/>
          </a:xfrm>
          <a:prstGeom prst="rect">
            <a:avLst/>
          </a:prstGeom>
          <a:noFill/>
          <a:ln/>
        </p:spPr>
        <p:txBody>
          <a:bodyPr wrap="square" lIns="0" tIns="0" rIns="0" bIns="0" rtlCol="0" anchor="ctr"/>
          <a:lstStyle/>
          <a:p>
            <a:pPr indent="0" marL="0">
              <a:buNone/>
            </a:pPr>
            <a:r>
              <a:rPr lang="en-US" sz="1500" b="1" dirty="0">
                <a:solidFill>
                  <a:srgbClr val="4ADE80"/>
                </a:solidFill>
                <a:latin typeface="Courier New" pitchFamily="34" charset="0"/>
                <a:ea typeface="Courier New" pitchFamily="34" charset="-122"/>
                <a:cs typeface="Courier New" pitchFamily="34" charset="-120"/>
              </a:rPr>
              <a:t>unfinished</a:t>
            </a:r>
            <a:endParaRPr lang="en-US" sz="1500" dirty="0"/>
          </a:p>
        </p:txBody>
      </p:sp>
      <p:sp>
        <p:nvSpPr>
          <p:cNvPr id="25" name="Text 23"/>
          <p:cNvSpPr txBox="1"/>
          <p:nvPr/>
        </p:nvSpPr>
        <p:spPr>
          <a:xfrm>
            <a:off x="1225296" y="5568696"/>
            <a:ext cx="5943600" cy="457200"/>
          </a:xfrm>
          <a:prstGeom prst="rect">
            <a:avLst/>
          </a:prstGeom>
          <a:noFill/>
          <a:ln/>
        </p:spPr>
        <p:txBody>
          <a:bodyPr wrap="square" lIns="0" tIns="0" rIns="0" bIns="0" rtlCol="0" anchor="ctr"/>
          <a:lstStyle/>
          <a:p>
            <a:pPr indent="0" marL="0">
              <a:lnSpc>
                <a:spcPts val="1700"/>
              </a:lnSpc>
              <a:buNone/>
            </a:pPr>
            <a:r>
              <a:rPr lang="en-US" sz="1300" dirty="0">
                <a:solidFill>
                  <a:srgbClr val="8CA394"/>
                </a:solidFill>
                <a:latin typeface="Calibri" pitchFamily="34" charset="0"/>
                <a:ea typeface="Calibri" pitchFamily="34" charset="-122"/>
                <a:cs typeface="Calibri" pitchFamily="34" charset="-120"/>
              </a:rPr>
              <a:t>TODO / FIXME / HACK markers, skipped tests and merge-conflict markers, aggregated per file.</a:t>
            </a:r>
            <a:endParaRPr lang="en-US" sz="1300" dirty="0"/>
          </a:p>
        </p:txBody>
      </p:sp>
      <p:sp>
        <p:nvSpPr>
          <p:cNvPr id="26" name="Shape 24"/>
          <p:cNvSpPr/>
          <p:nvPr/>
        </p:nvSpPr>
        <p:spPr>
          <a:xfrm>
            <a:off x="7543800" y="5330952"/>
            <a:ext cx="3703320" cy="530352"/>
          </a:xfrm>
          <a:prstGeom prst="roundRect">
            <a:avLst>
              <a:gd name="adj" fmla="val 15517"/>
            </a:avLst>
          </a:prstGeom>
          <a:solidFill>
            <a:srgbClr val="1D2A22"/>
          </a:solidFill>
          <a:ln w="12700">
            <a:solidFill>
              <a:srgbClr val="1D2A22"/>
            </a:solidFill>
            <a:prstDash val="solid"/>
          </a:ln>
        </p:spPr>
      </p:sp>
      <p:sp>
        <p:nvSpPr>
          <p:cNvPr id="27" name="Text 25"/>
          <p:cNvSpPr txBox="1"/>
          <p:nvPr/>
        </p:nvSpPr>
        <p:spPr>
          <a:xfrm>
            <a:off x="7680960" y="5330952"/>
            <a:ext cx="3474720" cy="530352"/>
          </a:xfrm>
          <a:prstGeom prst="rect">
            <a:avLst/>
          </a:prstGeom>
          <a:noFill/>
          <a:ln/>
        </p:spPr>
        <p:txBody>
          <a:bodyPr wrap="square" lIns="0" tIns="0" rIns="0" bIns="0" rtlCol="0" anchor="ctr"/>
          <a:lstStyle/>
          <a:p>
            <a:pPr indent="0" marL="0">
              <a:buNone/>
            </a:pPr>
            <a:r>
              <a:rPr lang="en-US" sz="1000" dirty="0">
                <a:solidFill>
                  <a:srgbClr val="EAF2EC"/>
                </a:solidFill>
                <a:latin typeface="Courier New" pitchFamily="34" charset="0"/>
                <a:ea typeface="Courier New" pitchFamily="34" charset="-122"/>
                <a:cs typeface="Courier New" pitchFamily="34" charset="-120"/>
              </a:rPr>
              <a:t>api/routes.py  7 markers, 2 skipped tests</a:t>
            </a:r>
            <a:endParaRPr lang="en-US" sz="1000" dirty="0"/>
          </a:p>
        </p:txBody>
      </p:sp>
      <p:sp>
        <p:nvSpPr>
          <p:cNvPr id="28" name="Text 26"/>
          <p:cNvSpPr txBox="1"/>
          <p:nvPr/>
        </p:nvSpPr>
        <p:spPr>
          <a:xfrm>
            <a:off x="640080" y="6144768"/>
            <a:ext cx="10881360" cy="310896"/>
          </a:xfrm>
          <a:prstGeom prst="rect">
            <a:avLst/>
          </a:prstGeom>
          <a:noFill/>
          <a:ln/>
        </p:spPr>
        <p:txBody>
          <a:bodyPr wrap="square" lIns="0" tIns="0" rIns="0" bIns="0" rtlCol="0" anchor="ctr"/>
          <a:lstStyle/>
          <a:p>
            <a:pPr indent="0" marL="0">
              <a:buNone/>
            </a:pPr>
            <a:r>
              <a:rPr lang="en-US" sz="1300" b="1" dirty="0">
                <a:solidFill>
                  <a:srgbClr val="EAF2EC"/>
                </a:solidFill>
                <a:latin typeface="Calibri" pitchFamily="34" charset="0"/>
                <a:ea typeface="Calibri" pitchFamily="34" charset="-122"/>
                <a:cs typeface="Calibri" pitchFamily="34" charset="-120"/>
              </a:rPr>
              <a:t>Evidence is the point. If a claim cannot be cited, it is not reported.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0D"/>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56032"/>
          </a:xfrm>
          <a:prstGeom prst="rect">
            <a:avLst/>
          </a:prstGeom>
          <a:noFill/>
          <a:ln/>
        </p:spPr>
        <p:txBody>
          <a:bodyPr wrap="square" lIns="0" tIns="0" rIns="0" bIns="0" rtlCol="0" anchor="ctr"/>
          <a:lstStyle/>
          <a:p>
            <a:pPr indent="0" marL="0">
              <a:buNone/>
            </a:pPr>
            <a:r>
              <a:rPr lang="en-US" sz="1100" spc="150" kern="0" dirty="0">
                <a:solidFill>
                  <a:srgbClr val="4ADE80"/>
                </a:solidFill>
                <a:latin typeface="Courier New" pitchFamily="34" charset="0"/>
                <a:ea typeface="Courier New" pitchFamily="34" charset="-122"/>
                <a:cs typeface="Courier New" pitchFamily="34" charset="-120"/>
              </a:rPr>
              <a:t>WHY YOU CAN TRUST IT</a:t>
            </a:r>
            <a:endParaRPr lang="en-US" sz="11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3400" b="1" dirty="0">
                <a:solidFill>
                  <a:srgbClr val="EAF2EC"/>
                </a:solidFill>
                <a:latin typeface="Arial" pitchFamily="34" charset="0"/>
                <a:ea typeface="Arial" pitchFamily="34" charset="-122"/>
                <a:cs typeface="Arial" pitchFamily="34" charset="-120"/>
              </a:rPr>
              <a:t>The model is the smallest part of it</a:t>
            </a:r>
            <a:endParaRPr lang="en-US" sz="3400" dirty="0"/>
          </a:p>
        </p:txBody>
      </p:sp>
      <p:sp>
        <p:nvSpPr>
          <p:cNvPr id="4" name="Shape 2"/>
          <p:cNvSpPr/>
          <p:nvPr/>
        </p:nvSpPr>
        <p:spPr>
          <a:xfrm>
            <a:off x="640080" y="1600200"/>
            <a:ext cx="3429000" cy="3246120"/>
          </a:xfrm>
          <a:prstGeom prst="roundRect">
            <a:avLst>
              <a:gd name="adj" fmla="val 2535"/>
            </a:avLst>
          </a:prstGeom>
          <a:solidFill>
            <a:srgbClr val="151E18"/>
          </a:solidFill>
          <a:ln w="12700">
            <a:solidFill>
              <a:srgbClr val="1D2A22"/>
            </a:solidFill>
            <a:prstDash val="solid"/>
          </a:ln>
        </p:spPr>
      </p:sp>
      <p:sp>
        <p:nvSpPr>
          <p:cNvPr id="5" name="Text 3"/>
          <p:cNvSpPr txBox="1"/>
          <p:nvPr/>
        </p:nvSpPr>
        <p:spPr>
          <a:xfrm>
            <a:off x="950976" y="1847088"/>
            <a:ext cx="2834640" cy="868680"/>
          </a:xfrm>
          <a:prstGeom prst="rect">
            <a:avLst/>
          </a:prstGeom>
          <a:noFill/>
          <a:ln/>
        </p:spPr>
        <p:txBody>
          <a:bodyPr wrap="square" lIns="0" tIns="0" rIns="0" bIns="0" rtlCol="0" anchor="ctr"/>
          <a:lstStyle/>
          <a:p>
            <a:pPr indent="0" marL="0">
              <a:buNone/>
            </a:pPr>
            <a:r>
              <a:rPr lang="en-US" sz="5800" b="1" dirty="0">
                <a:solidFill>
                  <a:srgbClr val="4ADE80"/>
                </a:solidFill>
                <a:latin typeface="Arial" pitchFamily="34" charset="0"/>
                <a:ea typeface="Arial" pitchFamily="34" charset="-122"/>
                <a:cs typeface="Arial" pitchFamily="34" charset="-120"/>
              </a:rPr>
              <a:t>1</a:t>
            </a:r>
            <a:endParaRPr lang="en-US" sz="5800" dirty="0"/>
          </a:p>
        </p:txBody>
      </p:sp>
      <p:sp>
        <p:nvSpPr>
          <p:cNvPr id="6" name="Text 4"/>
          <p:cNvSpPr txBox="1"/>
          <p:nvPr/>
        </p:nvSpPr>
        <p:spPr>
          <a:xfrm>
            <a:off x="969264" y="2688336"/>
            <a:ext cx="2834640" cy="274320"/>
          </a:xfrm>
          <a:prstGeom prst="rect">
            <a:avLst/>
          </a:prstGeom>
          <a:noFill/>
          <a:ln/>
        </p:spPr>
        <p:txBody>
          <a:bodyPr wrap="square" lIns="0" tIns="0" rIns="0" bIns="0" rtlCol="0" anchor="ctr"/>
          <a:lstStyle/>
          <a:p>
            <a:pPr indent="0" marL="0">
              <a:buNone/>
            </a:pPr>
            <a:r>
              <a:rPr lang="en-US" sz="1100" dirty="0">
                <a:solidFill>
                  <a:srgbClr val="5E7266"/>
                </a:solidFill>
                <a:latin typeface="Courier New" pitchFamily="34" charset="0"/>
                <a:ea typeface="Courier New" pitchFamily="34" charset="-122"/>
                <a:cs typeface="Courier New" pitchFamily="34" charset="-120"/>
              </a:rPr>
              <a:t>call</a:t>
            </a:r>
            <a:endParaRPr lang="en-US" sz="1100" dirty="0"/>
          </a:p>
        </p:txBody>
      </p:sp>
      <p:sp>
        <p:nvSpPr>
          <p:cNvPr id="7" name="Text 5"/>
          <p:cNvSpPr txBox="1"/>
          <p:nvPr/>
        </p:nvSpPr>
        <p:spPr>
          <a:xfrm>
            <a:off x="950976" y="3090672"/>
            <a:ext cx="2834640" cy="566928"/>
          </a:xfrm>
          <a:prstGeom prst="rect">
            <a:avLst/>
          </a:prstGeom>
          <a:noFill/>
          <a:ln/>
        </p:spPr>
        <p:txBody>
          <a:bodyPr wrap="square" lIns="0" tIns="0" rIns="0" bIns="0" rtlCol="0" anchor="ctr"/>
          <a:lstStyle/>
          <a:p>
            <a:pPr indent="0" marL="0">
              <a:lnSpc>
                <a:spcPts val="2000"/>
              </a:lnSpc>
              <a:buNone/>
            </a:pPr>
            <a:r>
              <a:rPr lang="en-US" sz="1600" b="1" dirty="0">
                <a:solidFill>
                  <a:srgbClr val="EAF2EC"/>
                </a:solidFill>
                <a:latin typeface="Calibri" pitchFamily="34" charset="0"/>
                <a:ea typeface="Calibri" pitchFamily="34" charset="-122"/>
                <a:cs typeface="Calibri" pitchFamily="34" charset="-120"/>
              </a:rPr>
              <a:t>Exactly one model call per scan</a:t>
            </a:r>
            <a:endParaRPr lang="en-US" sz="1600" dirty="0"/>
          </a:p>
        </p:txBody>
      </p:sp>
      <p:sp>
        <p:nvSpPr>
          <p:cNvPr id="8" name="Text 6"/>
          <p:cNvSpPr txBox="1"/>
          <p:nvPr/>
        </p:nvSpPr>
        <p:spPr>
          <a:xfrm>
            <a:off x="950976" y="3712464"/>
            <a:ext cx="2834640" cy="1005840"/>
          </a:xfrm>
          <a:prstGeom prst="rect">
            <a:avLst/>
          </a:prstGeom>
          <a:noFill/>
          <a:ln/>
        </p:spPr>
        <p:txBody>
          <a:bodyPr wrap="square" lIns="0" tIns="0" rIns="0" bIns="0" rtlCol="0" anchor="ctr"/>
          <a:lstStyle/>
          <a:p>
            <a:pPr indent="0" marL="0">
              <a:lnSpc>
                <a:spcPts val="1700"/>
              </a:lnSpc>
              <a:buNone/>
            </a:pPr>
            <a:r>
              <a:rPr lang="en-US" sz="1250" dirty="0">
                <a:solidFill>
                  <a:srgbClr val="8CA394"/>
                </a:solidFill>
                <a:latin typeface="Calibri" pitchFamily="34" charset="0"/>
                <a:ea typeface="Calibri" pitchFamily="34" charset="-122"/>
                <a:cs typeface="Calibri" pitchFamily="34" charset="-120"/>
              </a:rPr>
              <a:t>lib/llm.ts is the only file in the repository that talks to OpenAI. Every other layer is a pure function with no I/O.</a:t>
            </a:r>
            <a:endParaRPr lang="en-US" sz="1250" dirty="0"/>
          </a:p>
        </p:txBody>
      </p:sp>
      <p:sp>
        <p:nvSpPr>
          <p:cNvPr id="9" name="Shape 7"/>
          <p:cNvSpPr/>
          <p:nvPr/>
        </p:nvSpPr>
        <p:spPr>
          <a:xfrm>
            <a:off x="4379976" y="1600200"/>
            <a:ext cx="3429000" cy="3246120"/>
          </a:xfrm>
          <a:prstGeom prst="roundRect">
            <a:avLst>
              <a:gd name="adj" fmla="val 2535"/>
            </a:avLst>
          </a:prstGeom>
          <a:solidFill>
            <a:srgbClr val="151E18"/>
          </a:solidFill>
          <a:ln w="12700">
            <a:solidFill>
              <a:srgbClr val="1D2A22"/>
            </a:solidFill>
            <a:prstDash val="solid"/>
          </a:ln>
        </p:spPr>
      </p:sp>
      <p:sp>
        <p:nvSpPr>
          <p:cNvPr id="10" name="Text 8"/>
          <p:cNvSpPr txBox="1"/>
          <p:nvPr/>
        </p:nvSpPr>
        <p:spPr>
          <a:xfrm>
            <a:off x="4690872" y="1847088"/>
            <a:ext cx="2834640" cy="868680"/>
          </a:xfrm>
          <a:prstGeom prst="rect">
            <a:avLst/>
          </a:prstGeom>
          <a:noFill/>
          <a:ln/>
        </p:spPr>
        <p:txBody>
          <a:bodyPr wrap="square" lIns="0" tIns="0" rIns="0" bIns="0" rtlCol="0" anchor="ctr"/>
          <a:lstStyle/>
          <a:p>
            <a:pPr indent="0" marL="0">
              <a:buNone/>
            </a:pPr>
            <a:r>
              <a:rPr lang="en-US" sz="5800" b="1" dirty="0">
                <a:solidFill>
                  <a:srgbClr val="4ADE80"/>
                </a:solidFill>
                <a:latin typeface="Arial" pitchFamily="34" charset="0"/>
                <a:ea typeface="Arial" pitchFamily="34" charset="-122"/>
                <a:cs typeface="Arial" pitchFamily="34" charset="-120"/>
              </a:rPr>
              <a:t>0</a:t>
            </a:r>
            <a:endParaRPr lang="en-US" sz="5800" dirty="0"/>
          </a:p>
        </p:txBody>
      </p:sp>
      <p:sp>
        <p:nvSpPr>
          <p:cNvPr id="11" name="Text 9"/>
          <p:cNvSpPr txBox="1"/>
          <p:nvPr/>
        </p:nvSpPr>
        <p:spPr>
          <a:xfrm>
            <a:off x="4709160" y="2688336"/>
            <a:ext cx="2834640" cy="274320"/>
          </a:xfrm>
          <a:prstGeom prst="rect">
            <a:avLst/>
          </a:prstGeom>
          <a:noFill/>
          <a:ln/>
        </p:spPr>
        <p:txBody>
          <a:bodyPr wrap="square" lIns="0" tIns="0" rIns="0" bIns="0" rtlCol="0" anchor="ctr"/>
          <a:lstStyle/>
          <a:p>
            <a:pPr indent="0" marL="0">
              <a:buNone/>
            </a:pPr>
            <a:r>
              <a:rPr lang="en-US" sz="1100" dirty="0">
                <a:solidFill>
                  <a:srgbClr val="5E7266"/>
                </a:solidFill>
                <a:latin typeface="Courier New" pitchFamily="34" charset="0"/>
                <a:ea typeface="Courier New" pitchFamily="34" charset="-122"/>
                <a:cs typeface="Courier New" pitchFamily="34" charset="-120"/>
              </a:rPr>
              <a:t>unsourced claims</a:t>
            </a:r>
            <a:endParaRPr lang="en-US" sz="1100" dirty="0"/>
          </a:p>
        </p:txBody>
      </p:sp>
      <p:sp>
        <p:nvSpPr>
          <p:cNvPr id="12" name="Text 10"/>
          <p:cNvSpPr txBox="1"/>
          <p:nvPr/>
        </p:nvSpPr>
        <p:spPr>
          <a:xfrm>
            <a:off x="4690872" y="3090672"/>
            <a:ext cx="2834640" cy="566928"/>
          </a:xfrm>
          <a:prstGeom prst="rect">
            <a:avLst/>
          </a:prstGeom>
          <a:noFill/>
          <a:ln/>
        </p:spPr>
        <p:txBody>
          <a:bodyPr wrap="square" lIns="0" tIns="0" rIns="0" bIns="0" rtlCol="0" anchor="ctr"/>
          <a:lstStyle/>
          <a:p>
            <a:pPr indent="0" marL="0">
              <a:lnSpc>
                <a:spcPts val="2000"/>
              </a:lnSpc>
              <a:buNone/>
            </a:pPr>
            <a:r>
              <a:rPr lang="en-US" sz="1600" b="1" dirty="0">
                <a:solidFill>
                  <a:srgbClr val="EAF2EC"/>
                </a:solidFill>
                <a:latin typeface="Calibri" pitchFamily="34" charset="0"/>
                <a:ea typeface="Calibri" pitchFamily="34" charset="-122"/>
                <a:cs typeface="Calibri" pitchFamily="34" charset="-120"/>
              </a:rPr>
              <a:t>Every finding carries evidence</a:t>
            </a:r>
            <a:endParaRPr lang="en-US" sz="1600" dirty="0"/>
          </a:p>
        </p:txBody>
      </p:sp>
      <p:sp>
        <p:nvSpPr>
          <p:cNvPr id="13" name="Text 11"/>
          <p:cNvSpPr txBox="1"/>
          <p:nvPr/>
        </p:nvSpPr>
        <p:spPr>
          <a:xfrm>
            <a:off x="4690872" y="3712464"/>
            <a:ext cx="2834640" cy="1005840"/>
          </a:xfrm>
          <a:prstGeom prst="rect">
            <a:avLst/>
          </a:prstGeom>
          <a:noFill/>
          <a:ln/>
        </p:spPr>
        <p:txBody>
          <a:bodyPr wrap="square" lIns="0" tIns="0" rIns="0" bIns="0" rtlCol="0" anchor="ctr"/>
          <a:lstStyle/>
          <a:p>
            <a:pPr indent="0" marL="0">
              <a:lnSpc>
                <a:spcPts val="1700"/>
              </a:lnSpc>
              <a:buNone/>
            </a:pPr>
            <a:r>
              <a:rPr lang="en-US" sz="1250" dirty="0">
                <a:solidFill>
                  <a:srgbClr val="8CA394"/>
                </a:solidFill>
                <a:latin typeface="Calibri" pitchFamily="34" charset="0"/>
                <a:ea typeface="Calibri" pitchFamily="34" charset="-122"/>
                <a:cs typeface="Calibri" pitchFamily="34" charset="-120"/>
              </a:rPr>
              <a:t>A path, and a line or a snippet. Severity is fixed in code, per check — never decided by a model.</a:t>
            </a:r>
            <a:endParaRPr lang="en-US" sz="1250" dirty="0"/>
          </a:p>
        </p:txBody>
      </p:sp>
      <p:sp>
        <p:nvSpPr>
          <p:cNvPr id="14" name="Shape 12"/>
          <p:cNvSpPr/>
          <p:nvPr/>
        </p:nvSpPr>
        <p:spPr>
          <a:xfrm>
            <a:off x="8119872" y="1600200"/>
            <a:ext cx="3429000" cy="3246120"/>
          </a:xfrm>
          <a:prstGeom prst="roundRect">
            <a:avLst>
              <a:gd name="adj" fmla="val 2535"/>
            </a:avLst>
          </a:prstGeom>
          <a:solidFill>
            <a:srgbClr val="151E18"/>
          </a:solidFill>
          <a:ln w="12700">
            <a:solidFill>
              <a:srgbClr val="1D2A22"/>
            </a:solidFill>
            <a:prstDash val="solid"/>
          </a:ln>
        </p:spPr>
      </p:sp>
      <p:sp>
        <p:nvSpPr>
          <p:cNvPr id="15" name="Text 13"/>
          <p:cNvSpPr txBox="1"/>
          <p:nvPr/>
        </p:nvSpPr>
        <p:spPr>
          <a:xfrm>
            <a:off x="8430768" y="1847088"/>
            <a:ext cx="2834640" cy="868680"/>
          </a:xfrm>
          <a:prstGeom prst="rect">
            <a:avLst/>
          </a:prstGeom>
          <a:noFill/>
          <a:ln/>
        </p:spPr>
        <p:txBody>
          <a:bodyPr wrap="square" lIns="0" tIns="0" rIns="0" bIns="0" rtlCol="0" anchor="ctr"/>
          <a:lstStyle/>
          <a:p>
            <a:pPr indent="0" marL="0">
              <a:buNone/>
            </a:pPr>
            <a:r>
              <a:rPr lang="en-US" sz="5800" b="1" dirty="0">
                <a:solidFill>
                  <a:srgbClr val="4ADE80"/>
                </a:solidFill>
                <a:latin typeface="Arial" pitchFamily="34" charset="0"/>
                <a:ea typeface="Arial" pitchFamily="34" charset="-122"/>
                <a:cs typeface="Arial" pitchFamily="34" charset="-120"/>
              </a:rPr>
              <a:t>100</a:t>
            </a:r>
            <a:endParaRPr lang="en-US" sz="5800" dirty="0"/>
          </a:p>
        </p:txBody>
      </p:sp>
      <p:sp>
        <p:nvSpPr>
          <p:cNvPr id="16" name="Text 14"/>
          <p:cNvSpPr txBox="1"/>
          <p:nvPr/>
        </p:nvSpPr>
        <p:spPr>
          <a:xfrm>
            <a:off x="8449056" y="2688336"/>
            <a:ext cx="2834640" cy="274320"/>
          </a:xfrm>
          <a:prstGeom prst="rect">
            <a:avLst/>
          </a:prstGeom>
          <a:noFill/>
          <a:ln/>
        </p:spPr>
        <p:txBody>
          <a:bodyPr wrap="square" lIns="0" tIns="0" rIns="0" bIns="0" rtlCol="0" anchor="ctr"/>
          <a:lstStyle/>
          <a:p>
            <a:pPr indent="0" marL="0">
              <a:buNone/>
            </a:pPr>
            <a:r>
              <a:rPr lang="en-US" sz="1100" dirty="0">
                <a:solidFill>
                  <a:srgbClr val="5E7266"/>
                </a:solidFill>
                <a:latin typeface="Courier New" pitchFamily="34" charset="0"/>
                <a:ea typeface="Courier New" pitchFamily="34" charset="-122"/>
                <a:cs typeface="Courier New" pitchFamily="34" charset="-120"/>
              </a:rPr>
              <a:t>% still renders</a:t>
            </a:r>
            <a:endParaRPr lang="en-US" sz="1100" dirty="0"/>
          </a:p>
        </p:txBody>
      </p:sp>
      <p:sp>
        <p:nvSpPr>
          <p:cNvPr id="17" name="Text 15"/>
          <p:cNvSpPr txBox="1"/>
          <p:nvPr/>
        </p:nvSpPr>
        <p:spPr>
          <a:xfrm>
            <a:off x="8430768" y="3090672"/>
            <a:ext cx="2834640" cy="566928"/>
          </a:xfrm>
          <a:prstGeom prst="rect">
            <a:avLst/>
          </a:prstGeom>
          <a:noFill/>
          <a:ln/>
        </p:spPr>
        <p:txBody>
          <a:bodyPr wrap="square" lIns="0" tIns="0" rIns="0" bIns="0" rtlCol="0" anchor="ctr"/>
          <a:lstStyle/>
          <a:p>
            <a:pPr indent="0" marL="0">
              <a:lnSpc>
                <a:spcPts val="2000"/>
              </a:lnSpc>
              <a:buNone/>
            </a:pPr>
            <a:r>
              <a:rPr lang="en-US" sz="1600" b="1" dirty="0">
                <a:solidFill>
                  <a:srgbClr val="EAF2EC"/>
                </a:solidFill>
                <a:latin typeface="Calibri" pitchFamily="34" charset="0"/>
                <a:ea typeface="Calibri" pitchFamily="34" charset="-122"/>
                <a:cs typeface="Calibri" pitchFamily="34" charset="-120"/>
              </a:rPr>
              <a:t>It degrades, it does not break</a:t>
            </a:r>
            <a:endParaRPr lang="en-US" sz="1600" dirty="0"/>
          </a:p>
        </p:txBody>
      </p:sp>
      <p:sp>
        <p:nvSpPr>
          <p:cNvPr id="18" name="Text 16"/>
          <p:cNvSpPr txBox="1"/>
          <p:nvPr/>
        </p:nvSpPr>
        <p:spPr>
          <a:xfrm>
            <a:off x="8430768" y="3712464"/>
            <a:ext cx="2834640" cy="1005840"/>
          </a:xfrm>
          <a:prstGeom prst="rect">
            <a:avLst/>
          </a:prstGeom>
          <a:noFill/>
          <a:ln/>
        </p:spPr>
        <p:txBody>
          <a:bodyPr wrap="square" lIns="0" tIns="0" rIns="0" bIns="0" rtlCol="0" anchor="ctr"/>
          <a:lstStyle/>
          <a:p>
            <a:pPr indent="0" marL="0">
              <a:lnSpc>
                <a:spcPts val="1700"/>
              </a:lnSpc>
              <a:buNone/>
            </a:pPr>
            <a:r>
              <a:rPr lang="en-US" sz="1250" dirty="0">
                <a:solidFill>
                  <a:srgbClr val="8CA394"/>
                </a:solidFill>
                <a:latin typeface="Calibri" pitchFamily="34" charset="0"/>
                <a:ea typeface="Calibri" pitchFamily="34" charset="-122"/>
                <a:cs typeface="Calibri" pitchFamily="34" charset="-120"/>
              </a:rPr>
              <a:t>If the key is missing, the call fails, or it times out at twenty seconds, the map, the findings and the AGENTS.md all still render.</a:t>
            </a:r>
            <a:endParaRPr lang="en-US" sz="1250" dirty="0"/>
          </a:p>
        </p:txBody>
      </p:sp>
      <p:sp>
        <p:nvSpPr>
          <p:cNvPr id="19" name="Shape 17"/>
          <p:cNvSpPr/>
          <p:nvPr/>
        </p:nvSpPr>
        <p:spPr>
          <a:xfrm>
            <a:off x="640080" y="5138928"/>
            <a:ext cx="10908792" cy="932688"/>
          </a:xfrm>
          <a:prstGeom prst="roundRect">
            <a:avLst>
              <a:gd name="adj" fmla="val 8824"/>
            </a:avLst>
          </a:prstGeom>
          <a:solidFill>
            <a:srgbClr val="1D2A22"/>
          </a:solidFill>
          <a:ln w="12700">
            <a:solidFill>
              <a:srgbClr val="1D2A22"/>
            </a:solidFill>
            <a:prstDash val="solid"/>
          </a:ln>
        </p:spPr>
      </p:sp>
      <p:sp>
        <p:nvSpPr>
          <p:cNvPr id="20" name="Shape 18"/>
          <p:cNvSpPr/>
          <p:nvPr/>
        </p:nvSpPr>
        <p:spPr>
          <a:xfrm>
            <a:off x="932688" y="5422392"/>
            <a:ext cx="365760" cy="365760"/>
          </a:xfrm>
          <a:prstGeom prst="ellipse">
            <a:avLst/>
          </a:prstGeom>
          <a:solidFill>
            <a:srgbClr val="4ADE80"/>
          </a:solidFill>
          <a:ln w="12700">
            <a:solidFill>
              <a:srgbClr val="4ADE80"/>
            </a:solidFill>
            <a:prstDash val="solid"/>
          </a:ln>
        </p:spPr>
      </p:sp>
      <p:sp>
        <p:nvSpPr>
          <p:cNvPr id="21" name="Text 19"/>
          <p:cNvSpPr txBox="1"/>
          <p:nvPr/>
        </p:nvSpPr>
        <p:spPr>
          <a:xfrm>
            <a:off x="932688" y="5422392"/>
            <a:ext cx="365760" cy="365760"/>
          </a:xfrm>
          <a:prstGeom prst="rect">
            <a:avLst/>
          </a:prstGeom>
          <a:noFill/>
          <a:ln/>
        </p:spPr>
        <p:txBody>
          <a:bodyPr wrap="square" lIns="0" tIns="0" rIns="0" bIns="0" rtlCol="0" anchor="ctr"/>
          <a:lstStyle/>
          <a:p>
            <a:pPr algn="ctr" indent="0" marL="0">
              <a:buNone/>
            </a:pPr>
            <a:r>
              <a:rPr lang="en-US" sz="1300" b="1" dirty="0">
                <a:solidFill>
                  <a:srgbClr val="0B100D"/>
                </a:solidFill>
                <a:latin typeface="Courier New" pitchFamily="34" charset="0"/>
                <a:ea typeface="Courier New" pitchFamily="34" charset="-122"/>
                <a:cs typeface="Courier New" pitchFamily="34" charset="-120"/>
              </a:rPr>
              <a:t>%</a:t>
            </a:r>
            <a:endParaRPr lang="en-US" sz="1300" dirty="0"/>
          </a:p>
        </p:txBody>
      </p:sp>
      <p:sp>
        <p:nvSpPr>
          <p:cNvPr id="22" name="Text 20"/>
          <p:cNvSpPr txBox="1"/>
          <p:nvPr/>
        </p:nvSpPr>
        <p:spPr>
          <a:xfrm>
            <a:off x="1481328" y="5358384"/>
            <a:ext cx="3200400" cy="292608"/>
          </a:xfrm>
          <a:prstGeom prst="rect">
            <a:avLst/>
          </a:prstGeom>
          <a:noFill/>
          <a:ln/>
        </p:spPr>
        <p:txBody>
          <a:bodyPr wrap="square" lIns="0" tIns="0" rIns="0" bIns="0" rtlCol="0" anchor="ctr"/>
          <a:lstStyle/>
          <a:p>
            <a:pPr indent="0" marL="0">
              <a:buNone/>
            </a:pPr>
            <a:r>
              <a:rPr lang="en-US" sz="1500" b="1" dirty="0">
                <a:solidFill>
                  <a:srgbClr val="EAF2EC"/>
                </a:solidFill>
                <a:latin typeface="Calibri" pitchFamily="34" charset="0"/>
                <a:ea typeface="Calibri" pitchFamily="34" charset="-122"/>
                <a:cs typeface="Calibri" pitchFamily="34" charset="-120"/>
              </a:rPr>
              <a:t>It reports its own coverage.</a:t>
            </a:r>
            <a:endParaRPr lang="en-US" sz="1500" dirty="0"/>
          </a:p>
        </p:txBody>
      </p:sp>
      <p:sp>
        <p:nvSpPr>
          <p:cNvPr id="23" name="Text 21"/>
          <p:cNvSpPr txBox="1"/>
          <p:nvPr/>
        </p:nvSpPr>
        <p:spPr>
          <a:xfrm>
            <a:off x="1481328" y="5650992"/>
            <a:ext cx="9692640" cy="310896"/>
          </a:xfrm>
          <a:prstGeom prst="rect">
            <a:avLst/>
          </a:prstGeom>
          <a:noFill/>
          <a:ln/>
        </p:spPr>
        <p:txBody>
          <a:bodyPr wrap="square" lIns="0" tIns="0" rIns="0" bIns="0" rtlCol="0" anchor="ctr"/>
          <a:lstStyle/>
          <a:p>
            <a:pPr indent="0" marL="0">
              <a:buNone/>
            </a:pPr>
            <a:r>
              <a:rPr lang="en-US" sz="1300" dirty="0">
                <a:solidFill>
                  <a:srgbClr val="8CA394"/>
                </a:solidFill>
                <a:latin typeface="Calibri" pitchFamily="34" charset="0"/>
                <a:ea typeface="Calibri" pitchFamily="34" charset="-122"/>
                <a:cs typeface="Calibri" pitchFamily="34" charset="-120"/>
              </a:rPr>
              <a:t>“scanned 48 of 60 files” — so you know exactly how much of the repository the findings rest on, instead of trusting a silent sample.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0D"/>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56032"/>
          </a:xfrm>
          <a:prstGeom prst="rect">
            <a:avLst/>
          </a:prstGeom>
          <a:noFill/>
          <a:ln/>
        </p:spPr>
        <p:txBody>
          <a:bodyPr wrap="square" lIns="0" tIns="0" rIns="0" bIns="0" rtlCol="0" anchor="ctr"/>
          <a:lstStyle/>
          <a:p>
            <a:pPr indent="0" marL="0">
              <a:buNone/>
            </a:pPr>
            <a:r>
              <a:rPr lang="en-US" sz="1100" spc="150" kern="0" dirty="0">
                <a:solidFill>
                  <a:srgbClr val="4ADE80"/>
                </a:solidFill>
                <a:latin typeface="Courier New" pitchFamily="34" charset="0"/>
                <a:ea typeface="Courier New" pitchFamily="34" charset="-122"/>
                <a:cs typeface="Courier New" pitchFamily="34" charset="-120"/>
              </a:rPr>
              <a:t>THE POINT</a:t>
            </a:r>
            <a:endParaRPr lang="en-US" sz="11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3400" b="1" dirty="0">
                <a:solidFill>
                  <a:srgbClr val="EAF2EC"/>
                </a:solidFill>
                <a:latin typeface="Arial" pitchFamily="34" charset="0"/>
                <a:ea typeface="Arial" pitchFamily="34" charset="-122"/>
                <a:cs typeface="Arial" pitchFamily="34" charset="-120"/>
              </a:rPr>
              <a:t>Its output is Codex's input</a:t>
            </a:r>
            <a:endParaRPr lang="en-US" sz="3400" dirty="0"/>
          </a:p>
        </p:txBody>
      </p:sp>
      <p:sp>
        <p:nvSpPr>
          <p:cNvPr id="4" name="Shape 2"/>
          <p:cNvSpPr/>
          <p:nvPr/>
        </p:nvSpPr>
        <p:spPr>
          <a:xfrm>
            <a:off x="640080" y="1965960"/>
            <a:ext cx="2487168" cy="1481328"/>
          </a:xfrm>
          <a:prstGeom prst="roundRect">
            <a:avLst>
              <a:gd name="adj" fmla="val 5556"/>
            </a:avLst>
          </a:prstGeom>
          <a:solidFill>
            <a:srgbClr val="151E18"/>
          </a:solidFill>
          <a:ln w="12700">
            <a:solidFill>
              <a:srgbClr val="1D2A22"/>
            </a:solidFill>
            <a:prstDash val="solid"/>
          </a:ln>
        </p:spPr>
      </p:sp>
      <p:sp>
        <p:nvSpPr>
          <p:cNvPr id="5" name="Text 3"/>
          <p:cNvSpPr txBox="1"/>
          <p:nvPr/>
        </p:nvSpPr>
        <p:spPr>
          <a:xfrm>
            <a:off x="841248" y="2212848"/>
            <a:ext cx="2103120" cy="621792"/>
          </a:xfrm>
          <a:prstGeom prst="rect">
            <a:avLst/>
          </a:prstGeom>
          <a:noFill/>
          <a:ln/>
        </p:spPr>
        <p:txBody>
          <a:bodyPr wrap="square" lIns="0" tIns="0" rIns="0" bIns="0" rtlCol="0" anchor="ctr"/>
          <a:lstStyle/>
          <a:p>
            <a:pPr indent="0" marL="0">
              <a:lnSpc>
                <a:spcPts val="2100"/>
              </a:lnSpc>
              <a:buNone/>
            </a:pPr>
            <a:r>
              <a:rPr lang="en-US" sz="1700" b="1" dirty="0">
                <a:solidFill>
                  <a:srgbClr val="EAF2EC"/>
                </a:solidFill>
                <a:latin typeface="Calibri" pitchFamily="34" charset="0"/>
                <a:ea typeface="Calibri" pitchFamily="34" charset="-122"/>
                <a:cs typeface="Calibri" pitchFamily="34" charset="-120"/>
              </a:rPr>
              <a:t>Repo URL</a:t>
            </a:r>
            <a:endParaRPr lang="en-US" sz="1700" dirty="0"/>
          </a:p>
        </p:txBody>
      </p:sp>
      <p:sp>
        <p:nvSpPr>
          <p:cNvPr id="6" name="Text 4"/>
          <p:cNvSpPr txBox="1"/>
          <p:nvPr/>
        </p:nvSpPr>
        <p:spPr>
          <a:xfrm>
            <a:off x="841248" y="2889504"/>
            <a:ext cx="2103120" cy="310896"/>
          </a:xfrm>
          <a:prstGeom prst="rect">
            <a:avLst/>
          </a:prstGeom>
          <a:noFill/>
          <a:ln/>
        </p:spPr>
        <p:txBody>
          <a:bodyPr wrap="square" lIns="0" tIns="0" rIns="0" bIns="0" rtlCol="0" anchor="ctr"/>
          <a:lstStyle/>
          <a:p>
            <a:pPr indent="0" marL="0">
              <a:buNone/>
            </a:pPr>
            <a:r>
              <a:rPr lang="en-US" sz="1050" dirty="0">
                <a:solidFill>
                  <a:srgbClr val="8CA394"/>
                </a:solidFill>
                <a:latin typeface="Courier New" pitchFamily="34" charset="0"/>
                <a:ea typeface="Courier New" pitchFamily="34" charset="-122"/>
                <a:cs typeface="Courier New" pitchFamily="34" charset="-120"/>
              </a:rPr>
              <a:t>github.com/acme/api</a:t>
            </a:r>
            <a:endParaRPr lang="en-US" sz="1050" dirty="0"/>
          </a:p>
        </p:txBody>
      </p:sp>
      <p:sp>
        <p:nvSpPr>
          <p:cNvPr id="7" name="Text 5"/>
          <p:cNvSpPr txBox="1"/>
          <p:nvPr/>
        </p:nvSpPr>
        <p:spPr>
          <a:xfrm>
            <a:off x="3163824" y="2432304"/>
            <a:ext cx="384048" cy="548640"/>
          </a:xfrm>
          <a:prstGeom prst="rect">
            <a:avLst/>
          </a:prstGeom>
          <a:noFill/>
          <a:ln/>
        </p:spPr>
        <p:txBody>
          <a:bodyPr wrap="square" lIns="0" tIns="0" rIns="0" bIns="0" rtlCol="0" anchor="ctr"/>
          <a:lstStyle/>
          <a:p>
            <a:pPr algn="ctr" indent="0" marL="0">
              <a:buNone/>
            </a:pPr>
            <a:r>
              <a:rPr lang="en-US" sz="2600" b="1" dirty="0">
                <a:solidFill>
                  <a:srgbClr val="4ADE80"/>
                </a:solidFill>
                <a:latin typeface="Arial" pitchFamily="34" charset="0"/>
                <a:ea typeface="Arial" pitchFamily="34" charset="-122"/>
                <a:cs typeface="Arial" pitchFamily="34" charset="-120"/>
              </a:rPr>
              <a:t>→</a:t>
            </a:r>
            <a:endParaRPr lang="en-US" sz="2600" dirty="0"/>
          </a:p>
        </p:txBody>
      </p:sp>
      <p:sp>
        <p:nvSpPr>
          <p:cNvPr id="8" name="Shape 6"/>
          <p:cNvSpPr/>
          <p:nvPr/>
        </p:nvSpPr>
        <p:spPr>
          <a:xfrm>
            <a:off x="3547872" y="1965960"/>
            <a:ext cx="2487168" cy="1481328"/>
          </a:xfrm>
          <a:prstGeom prst="roundRect">
            <a:avLst>
              <a:gd name="adj" fmla="val 5556"/>
            </a:avLst>
          </a:prstGeom>
          <a:solidFill>
            <a:srgbClr val="151E18"/>
          </a:solidFill>
          <a:ln w="12700">
            <a:solidFill>
              <a:srgbClr val="1D2A22"/>
            </a:solidFill>
            <a:prstDash val="solid"/>
          </a:ln>
        </p:spPr>
      </p:sp>
      <p:sp>
        <p:nvSpPr>
          <p:cNvPr id="9" name="Text 7"/>
          <p:cNvSpPr txBox="1"/>
          <p:nvPr/>
        </p:nvSpPr>
        <p:spPr>
          <a:xfrm>
            <a:off x="3749040" y="2212848"/>
            <a:ext cx="2103120" cy="621792"/>
          </a:xfrm>
          <a:prstGeom prst="rect">
            <a:avLst/>
          </a:prstGeom>
          <a:noFill/>
          <a:ln/>
        </p:spPr>
        <p:txBody>
          <a:bodyPr wrap="square" lIns="0" tIns="0" rIns="0" bIns="0" rtlCol="0" anchor="ctr"/>
          <a:lstStyle/>
          <a:p>
            <a:pPr indent="0" marL="0">
              <a:lnSpc>
                <a:spcPts val="2100"/>
              </a:lnSpc>
              <a:buNone/>
            </a:pPr>
            <a:r>
              <a:rPr lang="en-US" sz="1700" b="1" dirty="0">
                <a:solidFill>
                  <a:srgbClr val="EAF2EC"/>
                </a:solidFill>
                <a:latin typeface="Calibri" pitchFamily="34" charset="0"/>
                <a:ea typeface="Calibri" pitchFamily="34" charset="-122"/>
                <a:cs typeface="Calibri" pitchFamily="34" charset="-120"/>
              </a:rPr>
              <a:t>Cold Start</a:t>
            </a:r>
            <a:endParaRPr lang="en-US" sz="1700" dirty="0"/>
          </a:p>
        </p:txBody>
      </p:sp>
      <p:sp>
        <p:nvSpPr>
          <p:cNvPr id="10" name="Text 8"/>
          <p:cNvSpPr txBox="1"/>
          <p:nvPr/>
        </p:nvSpPr>
        <p:spPr>
          <a:xfrm>
            <a:off x="3749040" y="2889504"/>
            <a:ext cx="2103120" cy="310896"/>
          </a:xfrm>
          <a:prstGeom prst="rect">
            <a:avLst/>
          </a:prstGeom>
          <a:noFill/>
          <a:ln/>
        </p:spPr>
        <p:txBody>
          <a:bodyPr wrap="square" lIns="0" tIns="0" rIns="0" bIns="0" rtlCol="0" anchor="ctr"/>
          <a:lstStyle/>
          <a:p>
            <a:pPr indent="0" marL="0">
              <a:buNone/>
            </a:pPr>
            <a:r>
              <a:rPr lang="en-US" sz="1050" dirty="0">
                <a:solidFill>
                  <a:srgbClr val="8CA394"/>
                </a:solidFill>
                <a:latin typeface="Courier New" pitchFamily="34" charset="0"/>
                <a:ea typeface="Courier New" pitchFamily="34" charset="-122"/>
                <a:cs typeface="Courier New" pitchFamily="34" charset="-120"/>
              </a:rPr>
              <a:t>map + landmines</a:t>
            </a:r>
            <a:endParaRPr lang="en-US" sz="1050" dirty="0"/>
          </a:p>
        </p:txBody>
      </p:sp>
      <p:sp>
        <p:nvSpPr>
          <p:cNvPr id="11" name="Text 9"/>
          <p:cNvSpPr txBox="1"/>
          <p:nvPr/>
        </p:nvSpPr>
        <p:spPr>
          <a:xfrm>
            <a:off x="6071616" y="2432304"/>
            <a:ext cx="384048" cy="548640"/>
          </a:xfrm>
          <a:prstGeom prst="rect">
            <a:avLst/>
          </a:prstGeom>
          <a:noFill/>
          <a:ln/>
        </p:spPr>
        <p:txBody>
          <a:bodyPr wrap="square" lIns="0" tIns="0" rIns="0" bIns="0" rtlCol="0" anchor="ctr"/>
          <a:lstStyle/>
          <a:p>
            <a:pPr algn="ctr" indent="0" marL="0">
              <a:buNone/>
            </a:pPr>
            <a:r>
              <a:rPr lang="en-US" sz="2600" b="1" dirty="0">
                <a:solidFill>
                  <a:srgbClr val="4ADE80"/>
                </a:solidFill>
                <a:latin typeface="Arial" pitchFamily="34" charset="0"/>
                <a:ea typeface="Arial" pitchFamily="34" charset="-122"/>
                <a:cs typeface="Arial" pitchFamily="34" charset="-120"/>
              </a:rPr>
              <a:t>→</a:t>
            </a:r>
            <a:endParaRPr lang="en-US" sz="2600" dirty="0"/>
          </a:p>
        </p:txBody>
      </p:sp>
      <p:sp>
        <p:nvSpPr>
          <p:cNvPr id="12" name="Shape 10"/>
          <p:cNvSpPr/>
          <p:nvPr/>
        </p:nvSpPr>
        <p:spPr>
          <a:xfrm>
            <a:off x="6455664" y="1965960"/>
            <a:ext cx="2487168" cy="1481328"/>
          </a:xfrm>
          <a:prstGeom prst="roundRect">
            <a:avLst>
              <a:gd name="adj" fmla="val 5556"/>
            </a:avLst>
          </a:prstGeom>
          <a:solidFill>
            <a:srgbClr val="151E18"/>
          </a:solidFill>
          <a:ln w="12700">
            <a:solidFill>
              <a:srgbClr val="1D2A22"/>
            </a:solidFill>
            <a:prstDash val="solid"/>
          </a:ln>
        </p:spPr>
      </p:sp>
      <p:sp>
        <p:nvSpPr>
          <p:cNvPr id="13" name="Text 11"/>
          <p:cNvSpPr txBox="1"/>
          <p:nvPr/>
        </p:nvSpPr>
        <p:spPr>
          <a:xfrm>
            <a:off x="6656832" y="2212848"/>
            <a:ext cx="2103120" cy="621792"/>
          </a:xfrm>
          <a:prstGeom prst="rect">
            <a:avLst/>
          </a:prstGeom>
          <a:noFill/>
          <a:ln/>
        </p:spPr>
        <p:txBody>
          <a:bodyPr wrap="square" lIns="0" tIns="0" rIns="0" bIns="0" rtlCol="0" anchor="ctr"/>
          <a:lstStyle/>
          <a:p>
            <a:pPr indent="0" marL="0">
              <a:lnSpc>
                <a:spcPts val="2100"/>
              </a:lnSpc>
              <a:buNone/>
            </a:pPr>
            <a:r>
              <a:rPr lang="en-US" sz="1700" b="1" dirty="0">
                <a:solidFill>
                  <a:srgbClr val="EAF2EC"/>
                </a:solidFill>
                <a:latin typeface="Calibri" pitchFamily="34" charset="0"/>
                <a:ea typeface="Calibri" pitchFamily="34" charset="-122"/>
                <a:cs typeface="Calibri" pitchFamily="34" charset="-120"/>
              </a:rPr>
              <a:t>AGENTS.md</a:t>
            </a:r>
            <a:endParaRPr lang="en-US" sz="1700" dirty="0"/>
          </a:p>
          <a:p>
            <a:pPr indent="0" marL="0">
              <a:lnSpc>
                <a:spcPts val="2100"/>
              </a:lnSpc>
              <a:buNone/>
            </a:pPr>
            <a:r>
              <a:rPr lang="en-US" sz="1700" b="1" dirty="0">
                <a:solidFill>
                  <a:srgbClr val="EAF2EC"/>
                </a:solidFill>
                <a:latin typeface="Calibri" pitchFamily="34" charset="0"/>
                <a:ea typeface="Calibri" pitchFamily="34" charset="-122"/>
                <a:cs typeface="Calibri" pitchFamily="34" charset="-120"/>
              </a:rPr>
              <a:t>+ 3 prompts</a:t>
            </a:r>
            <a:endParaRPr lang="en-US" sz="1700" dirty="0"/>
          </a:p>
        </p:txBody>
      </p:sp>
      <p:sp>
        <p:nvSpPr>
          <p:cNvPr id="14" name="Text 12"/>
          <p:cNvSpPr txBox="1"/>
          <p:nvPr/>
        </p:nvSpPr>
        <p:spPr>
          <a:xfrm>
            <a:off x="6656832" y="2889504"/>
            <a:ext cx="2103120" cy="310896"/>
          </a:xfrm>
          <a:prstGeom prst="rect">
            <a:avLst/>
          </a:prstGeom>
          <a:noFill/>
          <a:ln/>
        </p:spPr>
        <p:txBody>
          <a:bodyPr wrap="square" lIns="0" tIns="0" rIns="0" bIns="0" rtlCol="0" anchor="ctr"/>
          <a:lstStyle/>
          <a:p>
            <a:pPr indent="0" marL="0">
              <a:buNone/>
            </a:pPr>
            <a:r>
              <a:rPr lang="en-US" sz="1050" dirty="0">
                <a:solidFill>
                  <a:srgbClr val="8CA394"/>
                </a:solidFill>
                <a:latin typeface="Courier New" pitchFamily="34" charset="0"/>
                <a:ea typeface="Courier New" pitchFamily="34" charset="-122"/>
                <a:cs typeface="Courier New" pitchFamily="34" charset="-120"/>
              </a:rPr>
              <a:t>copy / download</a:t>
            </a:r>
            <a:endParaRPr lang="en-US" sz="1050" dirty="0"/>
          </a:p>
        </p:txBody>
      </p:sp>
      <p:sp>
        <p:nvSpPr>
          <p:cNvPr id="15" name="Text 13"/>
          <p:cNvSpPr txBox="1"/>
          <p:nvPr/>
        </p:nvSpPr>
        <p:spPr>
          <a:xfrm>
            <a:off x="8979408" y="2432304"/>
            <a:ext cx="384048" cy="548640"/>
          </a:xfrm>
          <a:prstGeom prst="rect">
            <a:avLst/>
          </a:prstGeom>
          <a:noFill/>
          <a:ln/>
        </p:spPr>
        <p:txBody>
          <a:bodyPr wrap="square" lIns="0" tIns="0" rIns="0" bIns="0" rtlCol="0" anchor="ctr"/>
          <a:lstStyle/>
          <a:p>
            <a:pPr algn="ctr" indent="0" marL="0">
              <a:buNone/>
            </a:pPr>
            <a:r>
              <a:rPr lang="en-US" sz="2600" b="1" dirty="0">
                <a:solidFill>
                  <a:srgbClr val="4ADE80"/>
                </a:solidFill>
                <a:latin typeface="Arial" pitchFamily="34" charset="0"/>
                <a:ea typeface="Arial" pitchFamily="34" charset="-122"/>
                <a:cs typeface="Arial" pitchFamily="34" charset="-120"/>
              </a:rPr>
              <a:t>→</a:t>
            </a:r>
            <a:endParaRPr lang="en-US" sz="2600" dirty="0"/>
          </a:p>
        </p:txBody>
      </p:sp>
      <p:sp>
        <p:nvSpPr>
          <p:cNvPr id="16" name="Shape 14"/>
          <p:cNvSpPr/>
          <p:nvPr/>
        </p:nvSpPr>
        <p:spPr>
          <a:xfrm>
            <a:off x="9363456" y="1965960"/>
            <a:ext cx="2487168" cy="1481328"/>
          </a:xfrm>
          <a:prstGeom prst="roundRect">
            <a:avLst>
              <a:gd name="adj" fmla="val 5556"/>
            </a:avLst>
          </a:prstGeom>
          <a:solidFill>
            <a:srgbClr val="151E18"/>
          </a:solidFill>
          <a:ln w="12700">
            <a:solidFill>
              <a:srgbClr val="1D2A22"/>
            </a:solidFill>
            <a:prstDash val="solid"/>
          </a:ln>
        </p:spPr>
      </p:sp>
      <p:sp>
        <p:nvSpPr>
          <p:cNvPr id="17" name="Text 15"/>
          <p:cNvSpPr txBox="1"/>
          <p:nvPr/>
        </p:nvSpPr>
        <p:spPr>
          <a:xfrm>
            <a:off x="9564624" y="2212848"/>
            <a:ext cx="2103120" cy="621792"/>
          </a:xfrm>
          <a:prstGeom prst="rect">
            <a:avLst/>
          </a:prstGeom>
          <a:noFill/>
          <a:ln/>
        </p:spPr>
        <p:txBody>
          <a:bodyPr wrap="square" lIns="0" tIns="0" rIns="0" bIns="0" rtlCol="0" anchor="ctr"/>
          <a:lstStyle/>
          <a:p>
            <a:pPr indent="0" marL="0">
              <a:lnSpc>
                <a:spcPts val="2100"/>
              </a:lnSpc>
              <a:buNone/>
            </a:pPr>
            <a:r>
              <a:rPr lang="en-US" sz="1700" b="1" dirty="0">
                <a:solidFill>
                  <a:srgbClr val="EAF2EC"/>
                </a:solidFill>
                <a:latin typeface="Calibri" pitchFamily="34" charset="0"/>
                <a:ea typeface="Calibri" pitchFamily="34" charset="-122"/>
                <a:cs typeface="Calibri" pitchFamily="34" charset="-120"/>
              </a:rPr>
              <a:t>Codex</a:t>
            </a:r>
            <a:endParaRPr lang="en-US" sz="1700" dirty="0"/>
          </a:p>
        </p:txBody>
      </p:sp>
      <p:sp>
        <p:nvSpPr>
          <p:cNvPr id="18" name="Text 16"/>
          <p:cNvSpPr txBox="1"/>
          <p:nvPr/>
        </p:nvSpPr>
        <p:spPr>
          <a:xfrm>
            <a:off x="9564624" y="2889504"/>
            <a:ext cx="2103120" cy="310896"/>
          </a:xfrm>
          <a:prstGeom prst="rect">
            <a:avLst/>
          </a:prstGeom>
          <a:noFill/>
          <a:ln/>
        </p:spPr>
        <p:txBody>
          <a:bodyPr wrap="square" lIns="0" tIns="0" rIns="0" bIns="0" rtlCol="0" anchor="ctr"/>
          <a:lstStyle/>
          <a:p>
            <a:pPr indent="0" marL="0">
              <a:buNone/>
            </a:pPr>
            <a:r>
              <a:rPr lang="en-US" sz="1050" dirty="0">
                <a:solidFill>
                  <a:srgbClr val="8CA394"/>
                </a:solidFill>
                <a:latin typeface="Courier New" pitchFamily="34" charset="0"/>
                <a:ea typeface="Courier New" pitchFamily="34" charset="-122"/>
                <a:cs typeface="Courier New" pitchFamily="34" charset="-120"/>
              </a:rPr>
              <a:t>works, grounded</a:t>
            </a:r>
            <a:endParaRPr lang="en-US" sz="1050" dirty="0"/>
          </a:p>
        </p:txBody>
      </p:sp>
      <p:sp>
        <p:nvSpPr>
          <p:cNvPr id="19" name="Shape 17"/>
          <p:cNvSpPr/>
          <p:nvPr/>
        </p:nvSpPr>
        <p:spPr>
          <a:xfrm>
            <a:off x="640080" y="3858768"/>
            <a:ext cx="8549640" cy="2084832"/>
          </a:xfrm>
          <a:prstGeom prst="roundRect">
            <a:avLst>
              <a:gd name="adj" fmla="val 3947"/>
            </a:avLst>
          </a:prstGeom>
          <a:solidFill>
            <a:srgbClr val="151E18"/>
          </a:solidFill>
          <a:ln w="12700">
            <a:solidFill>
              <a:srgbClr val="1D2A22"/>
            </a:solidFill>
            <a:prstDash val="solid"/>
          </a:ln>
        </p:spPr>
      </p:sp>
      <p:sp>
        <p:nvSpPr>
          <p:cNvPr id="20" name="Text 18"/>
          <p:cNvSpPr txBox="1"/>
          <p:nvPr/>
        </p:nvSpPr>
        <p:spPr>
          <a:xfrm>
            <a:off x="932688" y="4078224"/>
            <a:ext cx="5486400" cy="274320"/>
          </a:xfrm>
          <a:prstGeom prst="rect">
            <a:avLst/>
          </a:prstGeom>
          <a:noFill/>
          <a:ln/>
        </p:spPr>
        <p:txBody>
          <a:bodyPr wrap="square" lIns="0" tIns="0" rIns="0" bIns="0" rtlCol="0" anchor="ctr"/>
          <a:lstStyle/>
          <a:p>
            <a:pPr indent="0" marL="0">
              <a:buNone/>
            </a:pPr>
            <a:r>
              <a:rPr lang="en-US" sz="1300" b="1" dirty="0">
                <a:solidFill>
                  <a:srgbClr val="4ADE80"/>
                </a:solidFill>
                <a:latin typeface="Calibri" pitchFamily="34" charset="0"/>
                <a:ea typeface="Calibri" pitchFamily="34" charset="-122"/>
                <a:cs typeface="Calibri" pitchFamily="34" charset="-120"/>
              </a:rPr>
              <a:t>A generated prompt, verbatim</a:t>
            </a:r>
            <a:endParaRPr lang="en-US" sz="1300" dirty="0"/>
          </a:p>
        </p:txBody>
      </p:sp>
      <p:sp>
        <p:nvSpPr>
          <p:cNvPr id="21" name="Text 19"/>
          <p:cNvSpPr txBox="1"/>
          <p:nvPr/>
        </p:nvSpPr>
        <p:spPr>
          <a:xfrm>
            <a:off x="932688" y="4443984"/>
            <a:ext cx="7955280" cy="201168"/>
          </a:xfrm>
          <a:prstGeom prst="rect">
            <a:avLst/>
          </a:prstGeom>
          <a:noFill/>
          <a:ln/>
        </p:spPr>
        <p:txBody>
          <a:bodyPr wrap="square" lIns="0" tIns="0" rIns="0" bIns="0" rtlCol="0" anchor="ctr"/>
          <a:lstStyle/>
          <a:p>
            <a:pPr indent="0" marL="0">
              <a:buNone/>
            </a:pPr>
            <a:r>
              <a:rPr lang="en-US" sz="1100" dirty="0">
                <a:solidFill>
                  <a:srgbClr val="EAF2EC"/>
                </a:solidFill>
                <a:latin typeface="Courier New" pitchFamily="34" charset="0"/>
                <a:ea typeface="Courier New" pitchFamily="34" charset="-122"/>
                <a:cs typeface="Courier New" pitchFamily="34" charset="-120"/>
              </a:rPr>
              <a:t>Goal: Add a .env.example covering the four variables read in src/.</a:t>
            </a:r>
            <a:endParaRPr lang="en-US" sz="1100" dirty="0"/>
          </a:p>
        </p:txBody>
      </p:sp>
      <p:sp>
        <p:nvSpPr>
          <p:cNvPr id="22" name="Text 20"/>
          <p:cNvSpPr txBox="1"/>
          <p:nvPr/>
        </p:nvSpPr>
        <p:spPr>
          <a:xfrm>
            <a:off x="932688" y="4649724"/>
            <a:ext cx="7955280" cy="201168"/>
          </a:xfrm>
          <a:prstGeom prst="rect">
            <a:avLst/>
          </a:prstGeom>
          <a:noFill/>
          <a:ln/>
        </p:spPr>
        <p:txBody>
          <a:bodyPr wrap="square" lIns="0" tIns="0" rIns="0" bIns="0" rtlCol="0" anchor="ctr"/>
          <a:lstStyle/>
          <a:p>
            <a:pPr indent="0" marL="0">
              <a:buNone/>
            </a:pPr>
            <a:r>
              <a:rPr lang="en-US" sz="1100" dirty="0">
                <a:solidFill>
                  <a:srgbClr val="8CA394"/>
                </a:solidFill>
                <a:latin typeface="Courier New" pitchFamily="34" charset="0"/>
                <a:ea typeface="Courier New" pitchFamily="34" charset="-122"/>
                <a:cs typeface="Courier New" pitchFamily="34" charset="-120"/>
              </a:rPr>
              <a:t>Context: lib/db.ts:14 and lib/mail.ts:9 read DATABASE_URL, SMTP_URL,</a:t>
            </a:r>
            <a:endParaRPr lang="en-US" sz="1100" dirty="0"/>
          </a:p>
        </p:txBody>
      </p:sp>
      <p:sp>
        <p:nvSpPr>
          <p:cNvPr id="23" name="Text 21"/>
          <p:cNvSpPr txBox="1"/>
          <p:nvPr/>
        </p:nvSpPr>
        <p:spPr>
          <a:xfrm>
            <a:off x="932688" y="4855464"/>
            <a:ext cx="7955280" cy="201168"/>
          </a:xfrm>
          <a:prstGeom prst="rect">
            <a:avLst/>
          </a:prstGeom>
          <a:noFill/>
          <a:ln/>
        </p:spPr>
        <p:txBody>
          <a:bodyPr wrap="square" lIns="0" tIns="0" rIns="0" bIns="0" rtlCol="0" anchor="ctr"/>
          <a:lstStyle/>
          <a:p>
            <a:pPr indent="0" marL="0">
              <a:buNone/>
            </a:pPr>
            <a:r>
              <a:rPr lang="en-US" sz="1100" dirty="0">
                <a:solidFill>
                  <a:srgbClr val="8CA394"/>
                </a:solidFill>
                <a:latin typeface="Courier New" pitchFamily="34" charset="0"/>
                <a:ea typeface="Courier New" pitchFamily="34" charset="-122"/>
                <a:cs typeface="Courier New" pitchFamily="34" charset="-120"/>
              </a:rPr>
              <a:t>  SMTP_USER and SMTP_PASS. No .env.example exists and the README</a:t>
            </a:r>
            <a:endParaRPr lang="en-US" sz="1100" dirty="0"/>
          </a:p>
        </p:txBody>
      </p:sp>
      <p:sp>
        <p:nvSpPr>
          <p:cNvPr id="24" name="Text 22"/>
          <p:cNvSpPr txBox="1"/>
          <p:nvPr/>
        </p:nvSpPr>
        <p:spPr>
          <a:xfrm>
            <a:off x="932688" y="5061204"/>
            <a:ext cx="7955280" cy="201168"/>
          </a:xfrm>
          <a:prstGeom prst="rect">
            <a:avLst/>
          </a:prstGeom>
          <a:noFill/>
          <a:ln/>
        </p:spPr>
        <p:txBody>
          <a:bodyPr wrap="square" lIns="0" tIns="0" rIns="0" bIns="0" rtlCol="0" anchor="ctr"/>
          <a:lstStyle/>
          <a:p>
            <a:pPr indent="0" marL="0">
              <a:buNone/>
            </a:pPr>
            <a:r>
              <a:rPr lang="en-US" sz="1100" dirty="0">
                <a:solidFill>
                  <a:srgbClr val="8CA394"/>
                </a:solidFill>
                <a:latin typeface="Courier New" pitchFamily="34" charset="0"/>
                <a:ea typeface="Courier New" pitchFamily="34" charset="-122"/>
                <a:cs typeface="Courier New" pitchFamily="34" charset="-120"/>
              </a:rPr>
              <a:t>  does not mention them.</a:t>
            </a:r>
            <a:endParaRPr lang="en-US" sz="1100" dirty="0"/>
          </a:p>
        </p:txBody>
      </p:sp>
      <p:sp>
        <p:nvSpPr>
          <p:cNvPr id="25" name="Text 23"/>
          <p:cNvSpPr txBox="1"/>
          <p:nvPr/>
        </p:nvSpPr>
        <p:spPr>
          <a:xfrm>
            <a:off x="932688" y="5266944"/>
            <a:ext cx="7955280" cy="201168"/>
          </a:xfrm>
          <a:prstGeom prst="rect">
            <a:avLst/>
          </a:prstGeom>
          <a:noFill/>
          <a:ln/>
        </p:spPr>
        <p:txBody>
          <a:bodyPr wrap="square" lIns="0" tIns="0" rIns="0" bIns="0" rtlCol="0" anchor="ctr"/>
          <a:lstStyle/>
          <a:p>
            <a:pPr indent="0" marL="0">
              <a:buNone/>
            </a:pPr>
            <a:r>
              <a:rPr lang="en-US" sz="1100" dirty="0">
                <a:solidFill>
                  <a:srgbClr val="8CA394"/>
                </a:solidFill>
                <a:latin typeface="Courier New" pitchFamily="34" charset="0"/>
                <a:ea typeface="Courier New" pitchFamily="34" charset="-122"/>
                <a:cs typeface="Courier New" pitchFamily="34" charset="-120"/>
              </a:rPr>
              <a:t>Constraints: No new dependencies. Do not commit real values.</a:t>
            </a:r>
            <a:endParaRPr lang="en-US" sz="1100" dirty="0"/>
          </a:p>
        </p:txBody>
      </p:sp>
      <p:sp>
        <p:nvSpPr>
          <p:cNvPr id="26" name="Text 24"/>
          <p:cNvSpPr txBox="1"/>
          <p:nvPr/>
        </p:nvSpPr>
        <p:spPr>
          <a:xfrm>
            <a:off x="932688" y="5472684"/>
            <a:ext cx="7955280" cy="201168"/>
          </a:xfrm>
          <a:prstGeom prst="rect">
            <a:avLst/>
          </a:prstGeom>
          <a:noFill/>
          <a:ln/>
        </p:spPr>
        <p:txBody>
          <a:bodyPr wrap="square" lIns="0" tIns="0" rIns="0" bIns="0" rtlCol="0" anchor="ctr"/>
          <a:lstStyle/>
          <a:p>
            <a:pPr indent="0" marL="0">
              <a:buNone/>
            </a:pPr>
            <a:r>
              <a:rPr lang="en-US" sz="1100" dirty="0">
                <a:solidFill>
                  <a:srgbClr val="EAF2EC"/>
                </a:solidFill>
                <a:latin typeface="Courier New" pitchFamily="34" charset="0"/>
                <a:ea typeface="Courier New" pitchFamily="34" charset="-122"/>
                <a:cs typeface="Courier New" pitchFamily="34" charset="-120"/>
              </a:rPr>
              <a:t>Done when: .env.example lists all four keys with empty values and the</a:t>
            </a:r>
            <a:endParaRPr lang="en-US" sz="1100" dirty="0"/>
          </a:p>
        </p:txBody>
      </p:sp>
      <p:sp>
        <p:nvSpPr>
          <p:cNvPr id="27" name="Text 25"/>
          <p:cNvSpPr txBox="1"/>
          <p:nvPr/>
        </p:nvSpPr>
        <p:spPr>
          <a:xfrm>
            <a:off x="932688" y="5678424"/>
            <a:ext cx="7955280" cy="201168"/>
          </a:xfrm>
          <a:prstGeom prst="rect">
            <a:avLst/>
          </a:prstGeom>
          <a:noFill/>
          <a:ln/>
        </p:spPr>
        <p:txBody>
          <a:bodyPr wrap="square" lIns="0" tIns="0" rIns="0" bIns="0" rtlCol="0" anchor="ctr"/>
          <a:lstStyle/>
          <a:p>
            <a:pPr indent="0" marL="0">
              <a:buNone/>
            </a:pPr>
            <a:r>
              <a:rPr lang="en-US" sz="1100" dirty="0">
                <a:solidFill>
                  <a:srgbClr val="8CA394"/>
                </a:solidFill>
                <a:latin typeface="Courier New" pitchFamily="34" charset="0"/>
                <a:ea typeface="Courier New" pitchFamily="34" charset="-122"/>
                <a:cs typeface="Courier New" pitchFamily="34" charset="-120"/>
              </a:rPr>
              <a:t>  README's setup section references it.</a:t>
            </a:r>
            <a:endParaRPr lang="en-US" sz="1100" dirty="0"/>
          </a:p>
        </p:txBody>
      </p:sp>
      <p:sp>
        <p:nvSpPr>
          <p:cNvPr id="28" name="Shape 26"/>
          <p:cNvSpPr/>
          <p:nvPr/>
        </p:nvSpPr>
        <p:spPr>
          <a:xfrm>
            <a:off x="9464040" y="3858768"/>
            <a:ext cx="2084832" cy="2084832"/>
          </a:xfrm>
          <a:prstGeom prst="roundRect">
            <a:avLst>
              <a:gd name="adj" fmla="val 3947"/>
            </a:avLst>
          </a:prstGeom>
          <a:solidFill>
            <a:srgbClr val="1D2A22"/>
          </a:solidFill>
          <a:ln w="12700">
            <a:solidFill>
              <a:srgbClr val="1D2A22"/>
            </a:solidFill>
            <a:prstDash val="solid"/>
          </a:ln>
        </p:spPr>
      </p:sp>
      <p:sp>
        <p:nvSpPr>
          <p:cNvPr id="29" name="Text 27"/>
          <p:cNvSpPr txBox="1"/>
          <p:nvPr/>
        </p:nvSpPr>
        <p:spPr>
          <a:xfrm>
            <a:off x="9601200" y="4133088"/>
            <a:ext cx="1810512" cy="685800"/>
          </a:xfrm>
          <a:prstGeom prst="rect">
            <a:avLst/>
          </a:prstGeom>
          <a:noFill/>
          <a:ln/>
        </p:spPr>
        <p:txBody>
          <a:bodyPr wrap="square" lIns="0" tIns="0" rIns="0" bIns="0" rtlCol="0" anchor="ctr"/>
          <a:lstStyle/>
          <a:p>
            <a:pPr algn="ctr" indent="0" marL="0">
              <a:buNone/>
            </a:pPr>
            <a:r>
              <a:rPr lang="en-US" sz="4400" b="1" dirty="0">
                <a:solidFill>
                  <a:srgbClr val="4ADE80"/>
                </a:solidFill>
                <a:latin typeface="Arial" pitchFamily="34" charset="0"/>
                <a:ea typeface="Arial" pitchFamily="34" charset="-122"/>
                <a:cs typeface="Arial" pitchFamily="34" charset="-120"/>
              </a:rPr>
              <a:t>3</a:t>
            </a:r>
            <a:endParaRPr lang="en-US" sz="4400" dirty="0"/>
          </a:p>
        </p:txBody>
      </p:sp>
      <p:sp>
        <p:nvSpPr>
          <p:cNvPr id="30" name="Text 28"/>
          <p:cNvSpPr txBox="1"/>
          <p:nvPr/>
        </p:nvSpPr>
        <p:spPr>
          <a:xfrm>
            <a:off x="9601200" y="4901184"/>
            <a:ext cx="1810512" cy="777240"/>
          </a:xfrm>
          <a:prstGeom prst="rect">
            <a:avLst/>
          </a:prstGeom>
          <a:noFill/>
          <a:ln/>
        </p:spPr>
        <p:txBody>
          <a:bodyPr wrap="square" lIns="0" tIns="0" rIns="0" bIns="0" rtlCol="0" anchor="ctr"/>
          <a:lstStyle/>
          <a:p>
            <a:pPr algn="ctr" indent="0" marL="0">
              <a:lnSpc>
                <a:spcPts val="1600"/>
              </a:lnSpc>
              <a:buNone/>
            </a:pPr>
            <a:r>
              <a:rPr lang="en-US" sz="1200" dirty="0">
                <a:solidFill>
                  <a:srgbClr val="8CA394"/>
                </a:solidFill>
                <a:latin typeface="Calibri" pitchFamily="34" charset="0"/>
                <a:ea typeface="Calibri" pitchFamily="34" charset="-122"/>
                <a:cs typeface="Calibri" pitchFamily="34" charset="-120"/>
              </a:rPr>
              <a:t>prompts per scan,</a:t>
            </a:r>
            <a:endParaRPr lang="en-US" sz="1200" dirty="0"/>
          </a:p>
          <a:p>
            <a:pPr algn="ctr" indent="0" marL="0">
              <a:lnSpc>
                <a:spcPts val="1600"/>
              </a:lnSpc>
              <a:buNone/>
            </a:pPr>
            <a:r>
              <a:rPr lang="en-US" sz="1200" dirty="0">
                <a:solidFill>
                  <a:srgbClr val="8CA394"/>
                </a:solidFill>
                <a:latin typeface="Calibri" pitchFamily="34" charset="0"/>
                <a:ea typeface="Calibri" pitchFamily="34" charset="-122"/>
                <a:cs typeface="Calibri" pitchFamily="34" charset="-120"/>
              </a:rPr>
              <a:t>about thirty minutes</a:t>
            </a:r>
            <a:endParaRPr lang="en-US" sz="1200" dirty="0"/>
          </a:p>
          <a:p>
            <a:pPr algn="ctr" indent="0" marL="0">
              <a:lnSpc>
                <a:spcPts val="1600"/>
              </a:lnSpc>
              <a:buNone/>
            </a:pPr>
            <a:r>
              <a:rPr lang="en-US" sz="1200" dirty="0">
                <a:solidFill>
                  <a:srgbClr val="8CA394"/>
                </a:solidFill>
                <a:latin typeface="Calibri" pitchFamily="34" charset="0"/>
                <a:ea typeface="Calibri" pitchFamily="34" charset="-122"/>
                <a:cs typeface="Calibri" pitchFamily="34" charset="-120"/>
              </a:rPr>
              <a:t>of work each</a:t>
            </a:r>
            <a:endParaRPr lang="en-US" sz="1200" dirty="0"/>
          </a:p>
        </p:txBody>
      </p:sp>
      <p:sp>
        <p:nvSpPr>
          <p:cNvPr id="31" name="Text 29"/>
          <p:cNvSpPr txBox="1"/>
          <p:nvPr/>
        </p:nvSpPr>
        <p:spPr>
          <a:xfrm>
            <a:off x="640080" y="6144768"/>
            <a:ext cx="10881360" cy="310896"/>
          </a:xfrm>
          <a:prstGeom prst="rect">
            <a:avLst/>
          </a:prstGeom>
          <a:noFill/>
          <a:ln/>
        </p:spPr>
        <p:txBody>
          <a:bodyPr wrap="square" lIns="0" tIns="0" rIns="0" bIns="0" rtlCol="0" anchor="ctr"/>
          <a:lstStyle/>
          <a:p>
            <a:pPr indent="0" marL="0">
              <a:buNone/>
            </a:pPr>
            <a:r>
              <a:rPr lang="en-US" sz="1400" b="1" dirty="0">
                <a:solidFill>
                  <a:srgbClr val="EAF2EC"/>
                </a:solidFill>
                <a:latin typeface="Calibri" pitchFamily="34" charset="0"/>
                <a:ea typeface="Calibri" pitchFamily="34" charset="-122"/>
                <a:cs typeface="Calibri" pitchFamily="34" charset="-120"/>
              </a:rPr>
              <a:t>Paste it into Codex. It runs.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0D"/>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56032"/>
          </a:xfrm>
          <a:prstGeom prst="rect">
            <a:avLst/>
          </a:prstGeom>
          <a:noFill/>
          <a:ln/>
        </p:spPr>
        <p:txBody>
          <a:bodyPr wrap="square" lIns="0" tIns="0" rIns="0" bIns="0" rtlCol="0" anchor="ctr"/>
          <a:lstStyle/>
          <a:p>
            <a:pPr indent="0" marL="0">
              <a:buNone/>
            </a:pPr>
            <a:r>
              <a:rPr lang="en-US" sz="1100" spc="150" kern="0" dirty="0">
                <a:solidFill>
                  <a:srgbClr val="4ADE80"/>
                </a:solidFill>
                <a:latin typeface="Courier New" pitchFamily="34" charset="0"/>
                <a:ea typeface="Courier New" pitchFamily="34" charset="-122"/>
                <a:cs typeface="Courier New" pitchFamily="34" charset="-120"/>
              </a:rPr>
              <a:t>HOW IT IS BUILT</a:t>
            </a:r>
            <a:endParaRPr lang="en-US" sz="11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3400" b="1" dirty="0">
                <a:solidFill>
                  <a:srgbClr val="EAF2EC"/>
                </a:solidFill>
                <a:latin typeface="Arial" pitchFamily="34" charset="0"/>
                <a:ea typeface="Arial" pitchFamily="34" charset="-122"/>
                <a:cs typeface="Arial" pitchFamily="34" charset="-120"/>
              </a:rPr>
              <a:t>One screen, one endpoint, pure functions</a:t>
            </a:r>
            <a:endParaRPr lang="en-US" sz="3400" dirty="0"/>
          </a:p>
        </p:txBody>
      </p:sp>
      <p:sp>
        <p:nvSpPr>
          <p:cNvPr id="4" name="Shape 2"/>
          <p:cNvSpPr/>
          <p:nvPr/>
        </p:nvSpPr>
        <p:spPr>
          <a:xfrm>
            <a:off x="640080" y="1600200"/>
            <a:ext cx="6400800" cy="4160520"/>
          </a:xfrm>
          <a:prstGeom prst="roundRect">
            <a:avLst>
              <a:gd name="adj" fmla="val 1978"/>
            </a:avLst>
          </a:prstGeom>
          <a:solidFill>
            <a:srgbClr val="151E18"/>
          </a:solidFill>
          <a:ln w="12700">
            <a:solidFill>
              <a:srgbClr val="1D2A22"/>
            </a:solidFill>
            <a:prstDash val="solid"/>
          </a:ln>
        </p:spPr>
      </p:sp>
      <p:sp>
        <p:nvSpPr>
          <p:cNvPr id="5" name="Text 3"/>
          <p:cNvSpPr txBox="1"/>
          <p:nvPr/>
        </p:nvSpPr>
        <p:spPr>
          <a:xfrm>
            <a:off x="932688" y="1883664"/>
            <a:ext cx="2423160" cy="256032"/>
          </a:xfrm>
          <a:prstGeom prst="rect">
            <a:avLst/>
          </a:prstGeom>
          <a:noFill/>
          <a:ln/>
        </p:spPr>
        <p:txBody>
          <a:bodyPr wrap="square" lIns="0" tIns="0" rIns="0" bIns="0" rtlCol="0" anchor="ctr"/>
          <a:lstStyle/>
          <a:p>
            <a:pPr indent="0" marL="0">
              <a:buNone/>
            </a:pPr>
            <a:r>
              <a:rPr lang="en-US" sz="1150" b="1" dirty="0">
                <a:solidFill>
                  <a:srgbClr val="4ADE80"/>
                </a:solidFill>
                <a:latin typeface="Courier New" pitchFamily="34" charset="0"/>
                <a:ea typeface="Courier New" pitchFamily="34" charset="-122"/>
                <a:cs typeface="Courier New" pitchFamily="34" charset="-120"/>
              </a:rPr>
              <a:t>app/page.tsx</a:t>
            </a:r>
            <a:endParaRPr lang="en-US" sz="1150" dirty="0"/>
          </a:p>
        </p:txBody>
      </p:sp>
      <p:sp>
        <p:nvSpPr>
          <p:cNvPr id="6" name="Text 4"/>
          <p:cNvSpPr txBox="1"/>
          <p:nvPr/>
        </p:nvSpPr>
        <p:spPr>
          <a:xfrm>
            <a:off x="3401568" y="1883664"/>
            <a:ext cx="3383280" cy="256032"/>
          </a:xfrm>
          <a:prstGeom prst="rect">
            <a:avLst/>
          </a:prstGeom>
          <a:noFill/>
          <a:ln/>
        </p:spPr>
        <p:txBody>
          <a:bodyPr wrap="square" lIns="0" tIns="0" rIns="0" bIns="0" rtlCol="0" anchor="ctr"/>
          <a:lstStyle/>
          <a:p>
            <a:pPr indent="0" marL="0">
              <a:buNone/>
            </a:pPr>
            <a:r>
              <a:rPr lang="en-US" sz="1150" dirty="0">
                <a:solidFill>
                  <a:srgbClr val="8CA394"/>
                </a:solidFill>
                <a:latin typeface="Calibri" pitchFamily="34" charset="0"/>
                <a:ea typeface="Calibri" pitchFamily="34" charset="-122"/>
                <a:cs typeface="Calibri" pitchFamily="34" charset="-120"/>
              </a:rPr>
              <a:t>the single screen: input, loading, report</a:t>
            </a:r>
            <a:endParaRPr lang="en-US" sz="1150" dirty="0"/>
          </a:p>
        </p:txBody>
      </p:sp>
      <p:sp>
        <p:nvSpPr>
          <p:cNvPr id="7" name="Text 5"/>
          <p:cNvSpPr txBox="1"/>
          <p:nvPr/>
        </p:nvSpPr>
        <p:spPr>
          <a:xfrm>
            <a:off x="932688" y="2368296"/>
            <a:ext cx="2423160" cy="256032"/>
          </a:xfrm>
          <a:prstGeom prst="rect">
            <a:avLst/>
          </a:prstGeom>
          <a:noFill/>
          <a:ln/>
        </p:spPr>
        <p:txBody>
          <a:bodyPr wrap="square" lIns="0" tIns="0" rIns="0" bIns="0" rtlCol="0" anchor="ctr"/>
          <a:lstStyle/>
          <a:p>
            <a:pPr indent="0" marL="0">
              <a:buNone/>
            </a:pPr>
            <a:r>
              <a:rPr lang="en-US" sz="1150" b="1" dirty="0">
                <a:solidFill>
                  <a:srgbClr val="4ADE80"/>
                </a:solidFill>
                <a:latin typeface="Courier New" pitchFamily="34" charset="0"/>
                <a:ea typeface="Courier New" pitchFamily="34" charset="-122"/>
                <a:cs typeface="Courier New" pitchFamily="34" charset="-120"/>
              </a:rPr>
              <a:t>app/api/scan/route.ts</a:t>
            </a:r>
            <a:endParaRPr lang="en-US" sz="1150" dirty="0"/>
          </a:p>
        </p:txBody>
      </p:sp>
      <p:sp>
        <p:nvSpPr>
          <p:cNvPr id="8" name="Text 6"/>
          <p:cNvSpPr txBox="1"/>
          <p:nvPr/>
        </p:nvSpPr>
        <p:spPr>
          <a:xfrm>
            <a:off x="3401568" y="2368296"/>
            <a:ext cx="3383280" cy="256032"/>
          </a:xfrm>
          <a:prstGeom prst="rect">
            <a:avLst/>
          </a:prstGeom>
          <a:noFill/>
          <a:ln/>
        </p:spPr>
        <p:txBody>
          <a:bodyPr wrap="square" lIns="0" tIns="0" rIns="0" bIns="0" rtlCol="0" anchor="ctr"/>
          <a:lstStyle/>
          <a:p>
            <a:pPr indent="0" marL="0">
              <a:buNone/>
            </a:pPr>
            <a:r>
              <a:rPr lang="en-US" sz="1150" dirty="0">
                <a:solidFill>
                  <a:srgbClr val="8CA394"/>
                </a:solidFill>
                <a:latin typeface="Calibri" pitchFamily="34" charset="0"/>
                <a:ea typeface="Calibri" pitchFamily="34" charset="-122"/>
                <a:cs typeface="Calibri" pitchFamily="34" charset="-120"/>
              </a:rPr>
              <a:t>POST { url } → ScanResult. The only orchestration.</a:t>
            </a:r>
            <a:endParaRPr lang="en-US" sz="1150" dirty="0"/>
          </a:p>
        </p:txBody>
      </p:sp>
      <p:sp>
        <p:nvSpPr>
          <p:cNvPr id="9" name="Text 7"/>
          <p:cNvSpPr txBox="1"/>
          <p:nvPr/>
        </p:nvSpPr>
        <p:spPr>
          <a:xfrm>
            <a:off x="932688" y="2852928"/>
            <a:ext cx="2423160" cy="256032"/>
          </a:xfrm>
          <a:prstGeom prst="rect">
            <a:avLst/>
          </a:prstGeom>
          <a:noFill/>
          <a:ln/>
        </p:spPr>
        <p:txBody>
          <a:bodyPr wrap="square" lIns="0" tIns="0" rIns="0" bIns="0" rtlCol="0" anchor="ctr"/>
          <a:lstStyle/>
          <a:p>
            <a:pPr indent="0" marL="0">
              <a:buNone/>
            </a:pPr>
            <a:r>
              <a:rPr lang="en-US" sz="1150" b="1" dirty="0">
                <a:solidFill>
                  <a:srgbClr val="4ADE80"/>
                </a:solidFill>
                <a:latin typeface="Courier New" pitchFamily="34" charset="0"/>
                <a:ea typeface="Courier New" pitchFamily="34" charset="-122"/>
                <a:cs typeface="Courier New" pitchFamily="34" charset="-120"/>
              </a:rPr>
              <a:t>lib/github.ts</a:t>
            </a:r>
            <a:endParaRPr lang="en-US" sz="1150" dirty="0"/>
          </a:p>
        </p:txBody>
      </p:sp>
      <p:sp>
        <p:nvSpPr>
          <p:cNvPr id="10" name="Text 8"/>
          <p:cNvSpPr txBox="1"/>
          <p:nvPr/>
        </p:nvSpPr>
        <p:spPr>
          <a:xfrm>
            <a:off x="3401568" y="2852928"/>
            <a:ext cx="3383280" cy="256032"/>
          </a:xfrm>
          <a:prstGeom prst="rect">
            <a:avLst/>
          </a:prstGeom>
          <a:noFill/>
          <a:ln/>
        </p:spPr>
        <p:txBody>
          <a:bodyPr wrap="square" lIns="0" tIns="0" rIns="0" bIns="0" rtlCol="0" anchor="ctr"/>
          <a:lstStyle/>
          <a:p>
            <a:pPr indent="0" marL="0">
              <a:buNone/>
            </a:pPr>
            <a:r>
              <a:rPr lang="en-US" sz="1150" dirty="0">
                <a:solidFill>
                  <a:srgbClr val="8CA394"/>
                </a:solidFill>
                <a:latin typeface="Calibri" pitchFamily="34" charset="0"/>
                <a:ea typeface="Calibri" pitchFamily="34" charset="-122"/>
                <a:cs typeface="Calibri" pitchFamily="34" charset="-120"/>
              </a:rPr>
              <a:t>all GitHub fetching. Nothing else touches the network.</a:t>
            </a:r>
            <a:endParaRPr lang="en-US" sz="1150" dirty="0"/>
          </a:p>
        </p:txBody>
      </p:sp>
      <p:sp>
        <p:nvSpPr>
          <p:cNvPr id="11" name="Text 9"/>
          <p:cNvSpPr txBox="1"/>
          <p:nvPr/>
        </p:nvSpPr>
        <p:spPr>
          <a:xfrm>
            <a:off x="932688" y="3337560"/>
            <a:ext cx="2423160" cy="256032"/>
          </a:xfrm>
          <a:prstGeom prst="rect">
            <a:avLst/>
          </a:prstGeom>
          <a:noFill/>
          <a:ln/>
        </p:spPr>
        <p:txBody>
          <a:bodyPr wrap="square" lIns="0" tIns="0" rIns="0" bIns="0" rtlCol="0" anchor="ctr"/>
          <a:lstStyle/>
          <a:p>
            <a:pPr indent="0" marL="0">
              <a:buNone/>
            </a:pPr>
            <a:r>
              <a:rPr lang="en-US" sz="1150" b="1" dirty="0">
                <a:solidFill>
                  <a:srgbClr val="4ADE80"/>
                </a:solidFill>
                <a:latin typeface="Courier New" pitchFamily="34" charset="0"/>
                <a:ea typeface="Courier New" pitchFamily="34" charset="-122"/>
                <a:cs typeface="Courier New" pitchFamily="34" charset="-120"/>
              </a:rPr>
              <a:t>lib/checks/*.ts</a:t>
            </a:r>
            <a:endParaRPr lang="en-US" sz="1150" dirty="0"/>
          </a:p>
        </p:txBody>
      </p:sp>
      <p:sp>
        <p:nvSpPr>
          <p:cNvPr id="12" name="Text 10"/>
          <p:cNvSpPr txBox="1"/>
          <p:nvPr/>
        </p:nvSpPr>
        <p:spPr>
          <a:xfrm>
            <a:off x="3401568" y="3337560"/>
            <a:ext cx="3383280" cy="256032"/>
          </a:xfrm>
          <a:prstGeom prst="rect">
            <a:avLst/>
          </a:prstGeom>
          <a:noFill/>
          <a:ln/>
        </p:spPr>
        <p:txBody>
          <a:bodyPr wrap="square" lIns="0" tIns="0" rIns="0" bIns="0" rtlCol="0" anchor="ctr"/>
          <a:lstStyle/>
          <a:p>
            <a:pPr indent="0" marL="0">
              <a:buNone/>
            </a:pPr>
            <a:r>
              <a:rPr lang="en-US" sz="1150" dirty="0">
                <a:solidFill>
                  <a:srgbClr val="8CA394"/>
                </a:solidFill>
                <a:latin typeface="Calibri" pitchFamily="34" charset="0"/>
                <a:ea typeface="Calibri" pitchFamily="34" charset="-122"/>
                <a:cs typeface="Calibri" pitchFamily="34" charset="-120"/>
              </a:rPr>
              <a:t>one pure function per check. No I/O.</a:t>
            </a:r>
            <a:endParaRPr lang="en-US" sz="1150" dirty="0"/>
          </a:p>
        </p:txBody>
      </p:sp>
      <p:sp>
        <p:nvSpPr>
          <p:cNvPr id="13" name="Text 11"/>
          <p:cNvSpPr txBox="1"/>
          <p:nvPr/>
        </p:nvSpPr>
        <p:spPr>
          <a:xfrm>
            <a:off x="932688" y="3822192"/>
            <a:ext cx="2423160" cy="256032"/>
          </a:xfrm>
          <a:prstGeom prst="rect">
            <a:avLst/>
          </a:prstGeom>
          <a:noFill/>
          <a:ln/>
        </p:spPr>
        <p:txBody>
          <a:bodyPr wrap="square" lIns="0" tIns="0" rIns="0" bIns="0" rtlCol="0" anchor="ctr"/>
          <a:lstStyle/>
          <a:p>
            <a:pPr indent="0" marL="0">
              <a:buNone/>
            </a:pPr>
            <a:r>
              <a:rPr lang="en-US" sz="1150" b="1" dirty="0">
                <a:solidFill>
                  <a:srgbClr val="4ADE80"/>
                </a:solidFill>
                <a:latin typeface="Courier New" pitchFamily="34" charset="0"/>
                <a:ea typeface="Courier New" pitchFamily="34" charset="-122"/>
                <a:cs typeface="Courier New" pitchFamily="34" charset="-120"/>
              </a:rPr>
              <a:t>lib/map.ts</a:t>
            </a:r>
            <a:endParaRPr lang="en-US" sz="1150" dirty="0"/>
          </a:p>
        </p:txBody>
      </p:sp>
      <p:sp>
        <p:nvSpPr>
          <p:cNvPr id="14" name="Text 12"/>
          <p:cNvSpPr txBox="1"/>
          <p:nvPr/>
        </p:nvSpPr>
        <p:spPr>
          <a:xfrm>
            <a:off x="3401568" y="3822192"/>
            <a:ext cx="3383280" cy="256032"/>
          </a:xfrm>
          <a:prstGeom prst="rect">
            <a:avLst/>
          </a:prstGeom>
          <a:noFill/>
          <a:ln/>
        </p:spPr>
        <p:txBody>
          <a:bodyPr wrap="square" lIns="0" tIns="0" rIns="0" bIns="0" rtlCol="0" anchor="ctr"/>
          <a:lstStyle/>
          <a:p>
            <a:pPr indent="0" marL="0">
              <a:buNone/>
            </a:pPr>
            <a:r>
              <a:rPr lang="en-US" sz="1150" dirty="0">
                <a:solidFill>
                  <a:srgbClr val="8CA394"/>
                </a:solidFill>
                <a:latin typeface="Calibri" pitchFamily="34" charset="0"/>
                <a:ea typeface="Calibri" pitchFamily="34" charset="-122"/>
                <a:cs typeface="Calibri" pitchFamily="34" charset="-120"/>
              </a:rPr>
              <a:t>repo map derivation. Pure.</a:t>
            </a:r>
            <a:endParaRPr lang="en-US" sz="1150" dirty="0"/>
          </a:p>
        </p:txBody>
      </p:sp>
      <p:sp>
        <p:nvSpPr>
          <p:cNvPr id="15" name="Text 13"/>
          <p:cNvSpPr txBox="1"/>
          <p:nvPr/>
        </p:nvSpPr>
        <p:spPr>
          <a:xfrm>
            <a:off x="932688" y="4306824"/>
            <a:ext cx="2423160" cy="256032"/>
          </a:xfrm>
          <a:prstGeom prst="rect">
            <a:avLst/>
          </a:prstGeom>
          <a:noFill/>
          <a:ln/>
        </p:spPr>
        <p:txBody>
          <a:bodyPr wrap="square" lIns="0" tIns="0" rIns="0" bIns="0" rtlCol="0" anchor="ctr"/>
          <a:lstStyle/>
          <a:p>
            <a:pPr indent="0" marL="0">
              <a:buNone/>
            </a:pPr>
            <a:r>
              <a:rPr lang="en-US" sz="1150" b="1" dirty="0">
                <a:solidFill>
                  <a:srgbClr val="4ADE80"/>
                </a:solidFill>
                <a:latin typeface="Courier New" pitchFamily="34" charset="0"/>
                <a:ea typeface="Courier New" pitchFamily="34" charset="-122"/>
                <a:cs typeface="Courier New" pitchFamily="34" charset="-120"/>
              </a:rPr>
              <a:t>lib/agentsmd.ts</a:t>
            </a:r>
            <a:endParaRPr lang="en-US" sz="1150" dirty="0"/>
          </a:p>
        </p:txBody>
      </p:sp>
      <p:sp>
        <p:nvSpPr>
          <p:cNvPr id="16" name="Text 14"/>
          <p:cNvSpPr txBox="1"/>
          <p:nvPr/>
        </p:nvSpPr>
        <p:spPr>
          <a:xfrm>
            <a:off x="3401568" y="4306824"/>
            <a:ext cx="3383280" cy="256032"/>
          </a:xfrm>
          <a:prstGeom prst="rect">
            <a:avLst/>
          </a:prstGeom>
          <a:noFill/>
          <a:ln/>
        </p:spPr>
        <p:txBody>
          <a:bodyPr wrap="square" lIns="0" tIns="0" rIns="0" bIns="0" rtlCol="0" anchor="ctr"/>
          <a:lstStyle/>
          <a:p>
            <a:pPr indent="0" marL="0">
              <a:buNone/>
            </a:pPr>
            <a:r>
              <a:rPr lang="en-US" sz="1150" dirty="0">
                <a:solidFill>
                  <a:srgbClr val="8CA394"/>
                </a:solidFill>
                <a:latin typeface="Calibri" pitchFamily="34" charset="0"/>
                <a:ea typeface="Calibri" pitchFamily="34" charset="-122"/>
                <a:cs typeface="Calibri" pitchFamily="34" charset="-120"/>
              </a:rPr>
              <a:t>ScanResult → AGENTS.md. Pure.</a:t>
            </a:r>
            <a:endParaRPr lang="en-US" sz="1150" dirty="0"/>
          </a:p>
        </p:txBody>
      </p:sp>
      <p:sp>
        <p:nvSpPr>
          <p:cNvPr id="17" name="Text 15"/>
          <p:cNvSpPr txBox="1"/>
          <p:nvPr/>
        </p:nvSpPr>
        <p:spPr>
          <a:xfrm>
            <a:off x="932688" y="4791456"/>
            <a:ext cx="2423160" cy="256032"/>
          </a:xfrm>
          <a:prstGeom prst="rect">
            <a:avLst/>
          </a:prstGeom>
          <a:noFill/>
          <a:ln/>
        </p:spPr>
        <p:txBody>
          <a:bodyPr wrap="square" lIns="0" tIns="0" rIns="0" bIns="0" rtlCol="0" anchor="ctr"/>
          <a:lstStyle/>
          <a:p>
            <a:pPr indent="0" marL="0">
              <a:buNone/>
            </a:pPr>
            <a:r>
              <a:rPr lang="en-US" sz="1150" b="1" dirty="0">
                <a:solidFill>
                  <a:srgbClr val="4ADE80"/>
                </a:solidFill>
                <a:latin typeface="Courier New" pitchFamily="34" charset="0"/>
                <a:ea typeface="Courier New" pitchFamily="34" charset="-122"/>
                <a:cs typeface="Courier New" pitchFamily="34" charset="-120"/>
              </a:rPr>
              <a:t>lib/llm.ts</a:t>
            </a:r>
            <a:endParaRPr lang="en-US" sz="1150" dirty="0"/>
          </a:p>
        </p:txBody>
      </p:sp>
      <p:sp>
        <p:nvSpPr>
          <p:cNvPr id="18" name="Text 16"/>
          <p:cNvSpPr txBox="1"/>
          <p:nvPr/>
        </p:nvSpPr>
        <p:spPr>
          <a:xfrm>
            <a:off x="3401568" y="4791456"/>
            <a:ext cx="3383280" cy="256032"/>
          </a:xfrm>
          <a:prstGeom prst="rect">
            <a:avLst/>
          </a:prstGeom>
          <a:noFill/>
          <a:ln/>
        </p:spPr>
        <p:txBody>
          <a:bodyPr wrap="square" lIns="0" tIns="0" rIns="0" bIns="0" rtlCol="0" anchor="ctr"/>
          <a:lstStyle/>
          <a:p>
            <a:pPr indent="0" marL="0">
              <a:buNone/>
            </a:pPr>
            <a:r>
              <a:rPr lang="en-US" sz="1150" dirty="0">
                <a:solidFill>
                  <a:srgbClr val="8CA394"/>
                </a:solidFill>
                <a:latin typeface="Calibri" pitchFamily="34" charset="0"/>
                <a:ea typeface="Calibri" pitchFamily="34" charset="-122"/>
                <a:cs typeface="Calibri" pitchFamily="34" charset="-120"/>
              </a:rPr>
              <a:t>the single OpenAI call. The only one.</a:t>
            </a:r>
            <a:endParaRPr lang="en-US" sz="1150" dirty="0"/>
          </a:p>
        </p:txBody>
      </p:sp>
      <p:sp>
        <p:nvSpPr>
          <p:cNvPr id="19" name="Text 17"/>
          <p:cNvSpPr txBox="1"/>
          <p:nvPr/>
        </p:nvSpPr>
        <p:spPr>
          <a:xfrm>
            <a:off x="932688" y="5276088"/>
            <a:ext cx="2423160" cy="256032"/>
          </a:xfrm>
          <a:prstGeom prst="rect">
            <a:avLst/>
          </a:prstGeom>
          <a:noFill/>
          <a:ln/>
        </p:spPr>
        <p:txBody>
          <a:bodyPr wrap="square" lIns="0" tIns="0" rIns="0" bIns="0" rtlCol="0" anchor="ctr"/>
          <a:lstStyle/>
          <a:p>
            <a:pPr indent="0" marL="0">
              <a:buNone/>
            </a:pPr>
            <a:r>
              <a:rPr lang="en-US" sz="1150" b="1" dirty="0">
                <a:solidFill>
                  <a:srgbClr val="4ADE80"/>
                </a:solidFill>
                <a:latin typeface="Courier New" pitchFamily="34" charset="0"/>
                <a:ea typeface="Courier New" pitchFamily="34" charset="-122"/>
                <a:cs typeface="Courier New" pitchFamily="34" charset="-120"/>
              </a:rPr>
              <a:t>types.ts</a:t>
            </a:r>
            <a:endParaRPr lang="en-US" sz="1150" dirty="0"/>
          </a:p>
        </p:txBody>
      </p:sp>
      <p:sp>
        <p:nvSpPr>
          <p:cNvPr id="20" name="Text 18"/>
          <p:cNvSpPr txBox="1"/>
          <p:nvPr/>
        </p:nvSpPr>
        <p:spPr>
          <a:xfrm>
            <a:off x="3401568" y="5276088"/>
            <a:ext cx="3383280" cy="256032"/>
          </a:xfrm>
          <a:prstGeom prst="rect">
            <a:avLst/>
          </a:prstGeom>
          <a:noFill/>
          <a:ln/>
        </p:spPr>
        <p:txBody>
          <a:bodyPr wrap="square" lIns="0" tIns="0" rIns="0" bIns="0" rtlCol="0" anchor="ctr"/>
          <a:lstStyle/>
          <a:p>
            <a:pPr indent="0" marL="0">
              <a:buNone/>
            </a:pPr>
            <a:r>
              <a:rPr lang="en-US" sz="1150" dirty="0">
                <a:solidFill>
                  <a:srgbClr val="8CA394"/>
                </a:solidFill>
                <a:latin typeface="Calibri" pitchFamily="34" charset="0"/>
                <a:ea typeface="Calibri" pitchFamily="34" charset="-122"/>
                <a:cs typeface="Calibri" pitchFamily="34" charset="-120"/>
              </a:rPr>
              <a:t>ScanResult and every sub-type. One source of truth.</a:t>
            </a:r>
            <a:endParaRPr lang="en-US" sz="1150" dirty="0"/>
          </a:p>
        </p:txBody>
      </p:sp>
      <p:sp>
        <p:nvSpPr>
          <p:cNvPr id="21" name="Shape 19"/>
          <p:cNvSpPr/>
          <p:nvPr/>
        </p:nvSpPr>
        <p:spPr>
          <a:xfrm>
            <a:off x="7360920" y="1600200"/>
            <a:ext cx="4187952" cy="1965960"/>
          </a:xfrm>
          <a:prstGeom prst="roundRect">
            <a:avLst>
              <a:gd name="adj" fmla="val 4186"/>
            </a:avLst>
          </a:prstGeom>
          <a:solidFill>
            <a:srgbClr val="151E18"/>
          </a:solidFill>
          <a:ln w="12700">
            <a:solidFill>
              <a:srgbClr val="1D2A22"/>
            </a:solidFill>
            <a:prstDash val="solid"/>
          </a:ln>
        </p:spPr>
      </p:sp>
      <p:sp>
        <p:nvSpPr>
          <p:cNvPr id="22" name="Text 20"/>
          <p:cNvSpPr txBox="1"/>
          <p:nvPr/>
        </p:nvSpPr>
        <p:spPr>
          <a:xfrm>
            <a:off x="7653528" y="1828800"/>
            <a:ext cx="3566160" cy="274320"/>
          </a:xfrm>
          <a:prstGeom prst="rect">
            <a:avLst/>
          </a:prstGeom>
          <a:noFill/>
          <a:ln/>
        </p:spPr>
        <p:txBody>
          <a:bodyPr wrap="square" lIns="0" tIns="0" rIns="0" bIns="0" rtlCol="0" anchor="ctr"/>
          <a:lstStyle/>
          <a:p>
            <a:pPr indent="0" marL="0">
              <a:buNone/>
            </a:pPr>
            <a:r>
              <a:rPr lang="en-US" sz="1400" b="1" dirty="0">
                <a:solidFill>
                  <a:srgbClr val="4ADE80"/>
                </a:solidFill>
                <a:latin typeface="Calibri" pitchFamily="34" charset="0"/>
                <a:ea typeface="Calibri" pitchFamily="34" charset="-122"/>
                <a:cs typeface="Calibri" pitchFamily="34" charset="-120"/>
              </a:rPr>
              <a:t>Stack</a:t>
            </a:r>
            <a:endParaRPr lang="en-US" sz="1400" dirty="0"/>
          </a:p>
        </p:txBody>
      </p:sp>
      <p:sp>
        <p:nvSpPr>
          <p:cNvPr id="23" name="Text 21"/>
          <p:cNvSpPr txBox="1"/>
          <p:nvPr/>
        </p:nvSpPr>
        <p:spPr>
          <a:xfrm>
            <a:off x="7653528" y="2176272"/>
            <a:ext cx="3566160" cy="548640"/>
          </a:xfrm>
          <a:prstGeom prst="rect">
            <a:avLst/>
          </a:prstGeom>
          <a:noFill/>
          <a:ln/>
        </p:spPr>
        <p:txBody>
          <a:bodyPr wrap="square" lIns="0" tIns="0" rIns="0" bIns="0" rtlCol="0" anchor="ctr"/>
          <a:lstStyle/>
          <a:p>
            <a:pPr indent="0" marL="0">
              <a:lnSpc>
                <a:spcPts val="2100"/>
              </a:lnSpc>
              <a:buNone/>
            </a:pPr>
            <a:r>
              <a:rPr lang="en-US" sz="1500" dirty="0">
                <a:solidFill>
                  <a:srgbClr val="EAF2EC"/>
                </a:solidFill>
                <a:latin typeface="Calibri" pitchFamily="34" charset="0"/>
                <a:ea typeface="Calibri" pitchFamily="34" charset="-122"/>
                <a:cs typeface="Calibri" pitchFamily="34" charset="-120"/>
              </a:rPr>
              <a:t>Next.js (App Router) · TypeScript · Tailwind · Vercel</a:t>
            </a:r>
            <a:endParaRPr lang="en-US" sz="1500" dirty="0"/>
          </a:p>
        </p:txBody>
      </p:sp>
      <p:sp>
        <p:nvSpPr>
          <p:cNvPr id="24" name="Text 22"/>
          <p:cNvSpPr txBox="1"/>
          <p:nvPr/>
        </p:nvSpPr>
        <p:spPr>
          <a:xfrm>
            <a:off x="7653528" y="2798064"/>
            <a:ext cx="3566160" cy="603504"/>
          </a:xfrm>
          <a:prstGeom prst="rect">
            <a:avLst/>
          </a:prstGeom>
          <a:noFill/>
          <a:ln/>
        </p:spPr>
        <p:txBody>
          <a:bodyPr wrap="square" lIns="0" tIns="0" rIns="0" bIns="0" rtlCol="0" anchor="ctr"/>
          <a:lstStyle/>
          <a:p>
            <a:pPr indent="0" marL="0">
              <a:lnSpc>
                <a:spcPts val="1700"/>
              </a:lnSpc>
              <a:buNone/>
            </a:pPr>
            <a:r>
              <a:rPr lang="en-US" sz="1200" dirty="0">
                <a:solidFill>
                  <a:srgbClr val="8CA394"/>
                </a:solidFill>
                <a:latin typeface="Calibri" pitchFamily="34" charset="0"/>
                <a:ea typeface="Calibri" pitchFamily="34" charset="-122"/>
                <a:cs typeface="Calibri" pitchFamily="34" charset="-120"/>
              </a:rPr>
              <a:t>No database. No auth. No queue. Zero runtime dependencies beyond React.</a:t>
            </a:r>
            <a:endParaRPr lang="en-US" sz="1200" dirty="0"/>
          </a:p>
        </p:txBody>
      </p:sp>
      <p:sp>
        <p:nvSpPr>
          <p:cNvPr id="25" name="Shape 23"/>
          <p:cNvSpPr/>
          <p:nvPr/>
        </p:nvSpPr>
        <p:spPr>
          <a:xfrm>
            <a:off x="7360920" y="3794760"/>
            <a:ext cx="4187952" cy="1965960"/>
          </a:xfrm>
          <a:prstGeom prst="roundRect">
            <a:avLst>
              <a:gd name="adj" fmla="val 4186"/>
            </a:avLst>
          </a:prstGeom>
          <a:solidFill>
            <a:srgbClr val="151E18"/>
          </a:solidFill>
          <a:ln w="12700">
            <a:solidFill>
              <a:srgbClr val="1D2A22"/>
            </a:solidFill>
            <a:prstDash val="solid"/>
          </a:ln>
        </p:spPr>
      </p:sp>
      <p:sp>
        <p:nvSpPr>
          <p:cNvPr id="26" name="Text 24"/>
          <p:cNvSpPr txBox="1"/>
          <p:nvPr/>
        </p:nvSpPr>
        <p:spPr>
          <a:xfrm>
            <a:off x="7653528" y="4023360"/>
            <a:ext cx="3566160" cy="274320"/>
          </a:xfrm>
          <a:prstGeom prst="rect">
            <a:avLst/>
          </a:prstGeom>
          <a:noFill/>
          <a:ln/>
        </p:spPr>
        <p:txBody>
          <a:bodyPr wrap="square" lIns="0" tIns="0" rIns="0" bIns="0" rtlCol="0" anchor="ctr"/>
          <a:lstStyle/>
          <a:p>
            <a:pPr indent="0" marL="0">
              <a:buNone/>
            </a:pPr>
            <a:r>
              <a:rPr lang="en-US" sz="1400" b="1" dirty="0">
                <a:solidFill>
                  <a:srgbClr val="4ADE80"/>
                </a:solidFill>
                <a:latin typeface="Calibri" pitchFamily="34" charset="0"/>
                <a:ea typeface="Calibri" pitchFamily="34" charset="-122"/>
                <a:cs typeface="Calibri" pitchFamily="34" charset="-120"/>
              </a:rPr>
              <a:t>Built with Codex</a:t>
            </a:r>
            <a:endParaRPr lang="en-US" sz="1400" dirty="0"/>
          </a:p>
        </p:txBody>
      </p:sp>
      <p:sp>
        <p:nvSpPr>
          <p:cNvPr id="27" name="Text 25"/>
          <p:cNvSpPr txBox="1"/>
          <p:nvPr/>
        </p:nvSpPr>
        <p:spPr>
          <a:xfrm>
            <a:off x="7653528" y="4352544"/>
            <a:ext cx="3566160" cy="1097280"/>
          </a:xfrm>
          <a:prstGeom prst="rect">
            <a:avLst/>
          </a:prstGeom>
          <a:noFill/>
          <a:ln/>
        </p:spPr>
        <p:txBody>
          <a:bodyPr wrap="square" lIns="0" tIns="0" rIns="0" bIns="0" rtlCol="0" anchor="ctr"/>
          <a:lstStyle/>
          <a:p>
            <a:pPr indent="0" marL="0">
              <a:lnSpc>
                <a:spcPts val="1800"/>
              </a:lnSpc>
              <a:buNone/>
            </a:pPr>
            <a:r>
              <a:rPr lang="en-US" sz="1250" dirty="0">
                <a:solidFill>
                  <a:srgbClr val="8CA394"/>
                </a:solidFill>
                <a:latin typeface="Calibri" pitchFamily="34" charset="0"/>
                <a:ea typeface="Calibri" pitchFamily="34" charset="-122"/>
                <a:cs typeface="Calibri" pitchFamily="34" charset="-120"/>
              </a:rPr>
              <a:t>Written over two days at the Build House, in three scoped prompts, against an AGENTS.md that Cold Start itself would now generate.</a:t>
            </a:r>
            <a:endParaRPr lang="en-US" sz="1250" dirty="0"/>
          </a:p>
        </p:txBody>
      </p:sp>
      <p:sp>
        <p:nvSpPr>
          <p:cNvPr id="28" name="Text 26"/>
          <p:cNvSpPr txBox="1"/>
          <p:nvPr/>
        </p:nvSpPr>
        <p:spPr>
          <a:xfrm>
            <a:off x="640080" y="6035040"/>
            <a:ext cx="10881360" cy="310896"/>
          </a:xfrm>
          <a:prstGeom prst="rect">
            <a:avLst/>
          </a:prstGeom>
          <a:noFill/>
          <a:ln/>
        </p:spPr>
        <p:txBody>
          <a:bodyPr wrap="square" lIns="0" tIns="0" rIns="0" bIns="0" rtlCol="0" anchor="ctr"/>
          <a:lstStyle/>
          <a:p>
            <a:pPr indent="0" marL="0">
              <a:buNone/>
            </a:pPr>
            <a:r>
              <a:rPr lang="en-US" sz="1300" i="1" dirty="0">
                <a:solidFill>
                  <a:srgbClr val="5E7266"/>
                </a:solidFill>
                <a:latin typeface="Calibri" pitchFamily="34" charset="0"/>
                <a:ea typeface="Calibri" pitchFamily="34" charset="-122"/>
                <a:cs typeface="Calibri" pitchFamily="34" charset="-120"/>
              </a:rPr>
              <a:t>Cold Start's first real finding was about itself: it read two environment variables and shipped no .env.example.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0D"/>
        </a:solidFill>
      </p:bgPr>
    </p:bg>
    <p:spTree>
      <p:nvGrpSpPr>
        <p:cNvPr id="1" name=""/>
        <p:cNvGrpSpPr/>
        <p:nvPr/>
      </p:nvGrpSpPr>
      <p:grpSpPr>
        <a:xfrm>
          <a:off x="0" y="0"/>
          <a:ext cx="0" cy="0"/>
          <a:chOff x="0" y="0"/>
          <a:chExt cx="0" cy="0"/>
        </a:xfrm>
      </p:grpSpPr>
      <p:sp>
        <p:nvSpPr>
          <p:cNvPr id="2" name="Text 0"/>
          <p:cNvSpPr txBox="1"/>
          <p:nvPr/>
        </p:nvSpPr>
        <p:spPr>
          <a:xfrm>
            <a:off x="822960" y="1371600"/>
            <a:ext cx="9692640" cy="1188720"/>
          </a:xfrm>
          <a:prstGeom prst="rect">
            <a:avLst/>
          </a:prstGeom>
          <a:noFill/>
          <a:ln/>
        </p:spPr>
        <p:txBody>
          <a:bodyPr wrap="square" lIns="0" tIns="0" rIns="0" bIns="0" rtlCol="0" anchor="ctr"/>
          <a:lstStyle/>
          <a:p>
            <a:pPr indent="0" marL="0">
              <a:lnSpc>
                <a:spcPts val="4800"/>
              </a:lnSpc>
              <a:buNone/>
            </a:pPr>
            <a:r>
              <a:rPr lang="en-US" sz="4000" b="1" dirty="0">
                <a:solidFill>
                  <a:srgbClr val="EAF2EC"/>
                </a:solidFill>
                <a:latin typeface="Arial" pitchFamily="34" charset="0"/>
                <a:ea typeface="Arial" pitchFamily="34" charset="-122"/>
                <a:cs typeface="Arial" pitchFamily="34" charset="-120"/>
              </a:rPr>
              <a:t>Try it on a repo you have not opened in months.</a:t>
            </a:r>
            <a:endParaRPr lang="en-US" sz="4000" dirty="0"/>
          </a:p>
        </p:txBody>
      </p:sp>
      <p:sp>
        <p:nvSpPr>
          <p:cNvPr id="3" name="Shape 1"/>
          <p:cNvSpPr/>
          <p:nvPr/>
        </p:nvSpPr>
        <p:spPr>
          <a:xfrm>
            <a:off x="822960" y="3063240"/>
            <a:ext cx="7863840" cy="777240"/>
          </a:xfrm>
          <a:prstGeom prst="roundRect">
            <a:avLst>
              <a:gd name="adj" fmla="val 10588"/>
            </a:avLst>
          </a:prstGeom>
          <a:solidFill>
            <a:srgbClr val="151E18"/>
          </a:solidFill>
          <a:ln w="12700">
            <a:solidFill>
              <a:srgbClr val="1D2A22"/>
            </a:solidFill>
            <a:prstDash val="solid"/>
          </a:ln>
        </p:spPr>
      </p:sp>
      <p:sp>
        <p:nvSpPr>
          <p:cNvPr id="4" name="Text 2"/>
          <p:cNvSpPr txBox="1"/>
          <p:nvPr/>
        </p:nvSpPr>
        <p:spPr>
          <a:xfrm>
            <a:off x="1115568" y="3063240"/>
            <a:ext cx="1005840" cy="777240"/>
          </a:xfrm>
          <a:prstGeom prst="rect">
            <a:avLst/>
          </a:prstGeom>
          <a:noFill/>
          <a:ln/>
        </p:spPr>
        <p:txBody>
          <a:bodyPr wrap="square" lIns="0" tIns="0" rIns="0" bIns="0" rtlCol="0" anchor="ctr"/>
          <a:lstStyle/>
          <a:p>
            <a:pPr indent="0" marL="0">
              <a:buNone/>
            </a:pPr>
            <a:r>
              <a:rPr lang="en-US" sz="1400" b="1" dirty="0">
                <a:solidFill>
                  <a:srgbClr val="8CA394"/>
                </a:solidFill>
                <a:latin typeface="Calibri" pitchFamily="34" charset="0"/>
                <a:ea typeface="Calibri" pitchFamily="34" charset="-122"/>
                <a:cs typeface="Calibri" pitchFamily="34" charset="-120"/>
              </a:rPr>
              <a:t>Live</a:t>
            </a:r>
            <a:endParaRPr lang="en-US" sz="1400" dirty="0"/>
          </a:p>
        </p:txBody>
      </p:sp>
      <p:sp>
        <p:nvSpPr>
          <p:cNvPr id="5" name="Text 3"/>
          <p:cNvSpPr txBox="1"/>
          <p:nvPr/>
        </p:nvSpPr>
        <p:spPr>
          <a:xfrm>
            <a:off x="2194560" y="3063240"/>
            <a:ext cx="6309360" cy="777240"/>
          </a:xfrm>
          <a:prstGeom prst="rect">
            <a:avLst/>
          </a:prstGeom>
          <a:noFill/>
          <a:ln/>
        </p:spPr>
        <p:txBody>
          <a:bodyPr wrap="square" lIns="0" tIns="0" rIns="0" bIns="0" rtlCol="0" anchor="ctr"/>
          <a:lstStyle/>
          <a:p>
            <a:pPr indent="0" marL="0">
              <a:buNone/>
            </a:pPr>
            <a:r>
              <a:rPr lang="en-US" sz="1500" dirty="0">
                <a:solidFill>
                  <a:srgbClr val="4ADE80"/>
                </a:solidFill>
                <a:latin typeface="Courier New" pitchFamily="34" charset="0"/>
                <a:ea typeface="Courier New" pitchFamily="34" charset="-122"/>
                <a:cs typeface="Courier New" pitchFamily="34" charset="-120"/>
              </a:rPr>
              <a:t>cold-start-kappa.vercel.app</a:t>
            </a:r>
            <a:endParaRPr lang="en-US" sz="1500" dirty="0"/>
          </a:p>
        </p:txBody>
      </p:sp>
      <p:sp>
        <p:nvSpPr>
          <p:cNvPr id="6" name="Shape 4"/>
          <p:cNvSpPr/>
          <p:nvPr/>
        </p:nvSpPr>
        <p:spPr>
          <a:xfrm>
            <a:off x="822960" y="4023360"/>
            <a:ext cx="7863840" cy="777240"/>
          </a:xfrm>
          <a:prstGeom prst="roundRect">
            <a:avLst>
              <a:gd name="adj" fmla="val 10588"/>
            </a:avLst>
          </a:prstGeom>
          <a:solidFill>
            <a:srgbClr val="151E18"/>
          </a:solidFill>
          <a:ln w="12700">
            <a:solidFill>
              <a:srgbClr val="1D2A22"/>
            </a:solidFill>
            <a:prstDash val="solid"/>
          </a:ln>
        </p:spPr>
      </p:sp>
      <p:sp>
        <p:nvSpPr>
          <p:cNvPr id="7" name="Text 5"/>
          <p:cNvSpPr txBox="1"/>
          <p:nvPr/>
        </p:nvSpPr>
        <p:spPr>
          <a:xfrm>
            <a:off x="1115568" y="4023360"/>
            <a:ext cx="1005840" cy="777240"/>
          </a:xfrm>
          <a:prstGeom prst="rect">
            <a:avLst/>
          </a:prstGeom>
          <a:noFill/>
          <a:ln/>
        </p:spPr>
        <p:txBody>
          <a:bodyPr wrap="square" lIns="0" tIns="0" rIns="0" bIns="0" rtlCol="0" anchor="ctr"/>
          <a:lstStyle/>
          <a:p>
            <a:pPr indent="0" marL="0">
              <a:buNone/>
            </a:pPr>
            <a:r>
              <a:rPr lang="en-US" sz="1400" b="1" dirty="0">
                <a:solidFill>
                  <a:srgbClr val="8CA394"/>
                </a:solidFill>
                <a:latin typeface="Calibri" pitchFamily="34" charset="0"/>
                <a:ea typeface="Calibri" pitchFamily="34" charset="-122"/>
                <a:cs typeface="Calibri" pitchFamily="34" charset="-120"/>
              </a:rPr>
              <a:t>Source</a:t>
            </a:r>
            <a:endParaRPr lang="en-US" sz="1400" dirty="0"/>
          </a:p>
        </p:txBody>
      </p:sp>
      <p:sp>
        <p:nvSpPr>
          <p:cNvPr id="8" name="Text 6"/>
          <p:cNvSpPr txBox="1"/>
          <p:nvPr/>
        </p:nvSpPr>
        <p:spPr>
          <a:xfrm>
            <a:off x="2194560" y="4023360"/>
            <a:ext cx="6309360" cy="777240"/>
          </a:xfrm>
          <a:prstGeom prst="rect">
            <a:avLst/>
          </a:prstGeom>
          <a:noFill/>
          <a:ln/>
        </p:spPr>
        <p:txBody>
          <a:bodyPr wrap="square" lIns="0" tIns="0" rIns="0" bIns="0" rtlCol="0" anchor="ctr"/>
          <a:lstStyle/>
          <a:p>
            <a:pPr indent="0" marL="0">
              <a:buNone/>
            </a:pPr>
            <a:r>
              <a:rPr lang="en-US" sz="1500" dirty="0">
                <a:solidFill>
                  <a:srgbClr val="4ADE80"/>
                </a:solidFill>
                <a:latin typeface="Courier New" pitchFamily="34" charset="0"/>
                <a:ea typeface="Courier New" pitchFamily="34" charset="-122"/>
                <a:cs typeface="Courier New" pitchFamily="34" charset="-120"/>
              </a:rPr>
              <a:t>github.com/Ndhakeph/cold-start</a:t>
            </a:r>
            <a:endParaRPr lang="en-US" sz="1500" dirty="0"/>
          </a:p>
        </p:txBody>
      </p:sp>
      <p:sp>
        <p:nvSpPr>
          <p:cNvPr id="9" name="Text 7"/>
          <p:cNvSpPr txBox="1"/>
          <p:nvPr/>
        </p:nvSpPr>
        <p:spPr>
          <a:xfrm>
            <a:off x="822960" y="5486400"/>
            <a:ext cx="5486400" cy="365760"/>
          </a:xfrm>
          <a:prstGeom prst="rect">
            <a:avLst/>
          </a:prstGeom>
          <a:noFill/>
          <a:ln/>
        </p:spPr>
        <p:txBody>
          <a:bodyPr wrap="square" lIns="0" tIns="0" rIns="0" bIns="0" rtlCol="0" anchor="ctr"/>
          <a:lstStyle/>
          <a:p>
            <a:pPr indent="0" marL="0">
              <a:buNone/>
            </a:pPr>
            <a:r>
              <a:rPr lang="en-US" sz="2000" b="1" dirty="0">
                <a:solidFill>
                  <a:srgbClr val="EAF2EC"/>
                </a:solidFill>
                <a:latin typeface="Arial" pitchFamily="34" charset="0"/>
                <a:ea typeface="Arial" pitchFamily="34" charset="-122"/>
                <a:cs typeface="Arial" pitchFamily="34" charset="-120"/>
              </a:rPr>
              <a:t>Cold Start</a:t>
            </a:r>
            <a:endParaRPr lang="en-US" sz="2000" dirty="0"/>
          </a:p>
        </p:txBody>
      </p:sp>
      <p:sp>
        <p:nvSpPr>
          <p:cNvPr id="10" name="Text 8"/>
          <p:cNvSpPr txBox="1"/>
          <p:nvPr/>
        </p:nvSpPr>
        <p:spPr>
          <a:xfrm>
            <a:off x="822960" y="5870448"/>
            <a:ext cx="8229600" cy="274320"/>
          </a:xfrm>
          <a:prstGeom prst="rect">
            <a:avLst/>
          </a:prstGeom>
          <a:noFill/>
          <a:ln/>
        </p:spPr>
        <p:txBody>
          <a:bodyPr wrap="square" lIns="0" tIns="0" rIns="0" bIns="0" rtlCol="0" anchor="ctr"/>
          <a:lstStyle/>
          <a:p>
            <a:pPr indent="0" marL="0">
              <a:buNone/>
            </a:pPr>
            <a:r>
              <a:rPr lang="en-US" sz="1100" dirty="0">
                <a:solidFill>
                  <a:srgbClr val="5E7266"/>
                </a:solidFill>
                <a:latin typeface="Courier New" pitchFamily="34" charset="0"/>
                <a:ea typeface="Courier New" pitchFamily="34" charset="-122"/>
                <a:cs typeface="Courier New" pitchFamily="34" charset="-120"/>
              </a:rPr>
              <a:t>Nishad Dhakephalkar  ·  Codex Build House, Pune  ·  5–6 September 2026</a:t>
            </a:r>
            <a:endParaRPr lang="en-US" sz="1100" dirty="0"/>
          </a:p>
        </p:txBody>
      </p:sp>
      <p:sp>
        <p:nvSpPr>
          <p:cNvPr id="11" name="Shape 9"/>
          <p:cNvSpPr/>
          <p:nvPr/>
        </p:nvSpPr>
        <p:spPr>
          <a:xfrm>
            <a:off x="9144000" y="3063240"/>
            <a:ext cx="2377440" cy="1874520"/>
          </a:xfrm>
          <a:prstGeom prst="roundRect">
            <a:avLst>
              <a:gd name="adj" fmla="val 4390"/>
            </a:avLst>
          </a:prstGeom>
          <a:solidFill>
            <a:srgbClr val="151E18"/>
          </a:solidFill>
          <a:ln w="12700">
            <a:solidFill>
              <a:srgbClr val="1D2A22"/>
            </a:solidFill>
            <a:prstDash val="solid"/>
          </a:ln>
        </p:spPr>
      </p:sp>
      <p:sp>
        <p:nvSpPr>
          <p:cNvPr id="12" name="Text 10"/>
          <p:cNvSpPr txBox="1"/>
          <p:nvPr/>
        </p:nvSpPr>
        <p:spPr>
          <a:xfrm>
            <a:off x="9326880" y="3291840"/>
            <a:ext cx="2011680" cy="685800"/>
          </a:xfrm>
          <a:prstGeom prst="rect">
            <a:avLst/>
          </a:prstGeom>
          <a:noFill/>
          <a:ln/>
        </p:spPr>
        <p:txBody>
          <a:bodyPr wrap="square" lIns="0" tIns="0" rIns="0" bIns="0" rtlCol="0" anchor="ctr"/>
          <a:lstStyle/>
          <a:p>
            <a:pPr algn="ctr" indent="0" marL="0">
              <a:buNone/>
            </a:pPr>
            <a:r>
              <a:rPr lang="en-US" sz="4400" b="1" dirty="0">
                <a:solidFill>
                  <a:srgbClr val="4ADE80"/>
                </a:solidFill>
                <a:latin typeface="Arial" pitchFamily="34" charset="0"/>
                <a:ea typeface="Arial" pitchFamily="34" charset="-122"/>
                <a:cs typeface="Arial" pitchFamily="34" charset="-120"/>
              </a:rPr>
              <a:t>10s</a:t>
            </a:r>
            <a:endParaRPr lang="en-US" sz="4400" dirty="0"/>
          </a:p>
        </p:txBody>
      </p:sp>
      <p:sp>
        <p:nvSpPr>
          <p:cNvPr id="13" name="Text 11"/>
          <p:cNvSpPr txBox="1"/>
          <p:nvPr/>
        </p:nvSpPr>
        <p:spPr>
          <a:xfrm>
            <a:off x="9326880" y="4059936"/>
            <a:ext cx="2011680" cy="731520"/>
          </a:xfrm>
          <a:prstGeom prst="rect">
            <a:avLst/>
          </a:prstGeom>
          <a:noFill/>
          <a:ln/>
        </p:spPr>
        <p:txBody>
          <a:bodyPr wrap="square" lIns="0" tIns="0" rIns="0" bIns="0" rtlCol="0" anchor="ctr"/>
          <a:lstStyle/>
          <a:p>
            <a:pPr algn="ctr" indent="0" marL="0">
              <a:lnSpc>
                <a:spcPts val="1600"/>
              </a:lnSpc>
              <a:buNone/>
            </a:pPr>
            <a:r>
              <a:rPr lang="en-US" sz="1200" dirty="0">
                <a:solidFill>
                  <a:srgbClr val="8CA394"/>
                </a:solidFill>
                <a:latin typeface="Calibri" pitchFamily="34" charset="0"/>
                <a:ea typeface="Calibri" pitchFamily="34" charset="-122"/>
                <a:cs typeface="Calibri" pitchFamily="34" charset="-120"/>
              </a:rPr>
              <a:t>from a URL to an</a:t>
            </a:r>
            <a:endParaRPr lang="en-US" sz="1200" dirty="0"/>
          </a:p>
          <a:p>
            <a:pPr algn="ctr" indent="0" marL="0">
              <a:lnSpc>
                <a:spcPts val="1600"/>
              </a:lnSpc>
              <a:buNone/>
            </a:pPr>
            <a:r>
              <a:rPr lang="en-US" sz="1200" dirty="0">
                <a:solidFill>
                  <a:srgbClr val="8CA394"/>
                </a:solidFill>
                <a:latin typeface="Calibri" pitchFamily="34" charset="0"/>
                <a:ea typeface="Calibri" pitchFamily="34" charset="-122"/>
                <a:cs typeface="Calibri" pitchFamily="34" charset="-120"/>
              </a:rPr>
              <a:t>AGENTS.md you can</a:t>
            </a:r>
            <a:endParaRPr lang="en-US" sz="1200" dirty="0"/>
          </a:p>
          <a:p>
            <a:pPr algn="ctr" indent="0" marL="0">
              <a:lnSpc>
                <a:spcPts val="1600"/>
              </a:lnSpc>
              <a:buNone/>
            </a:pPr>
            <a:r>
              <a:rPr lang="en-US" sz="1200" dirty="0">
                <a:solidFill>
                  <a:srgbClr val="8CA394"/>
                </a:solidFill>
                <a:latin typeface="Calibri" pitchFamily="34" charset="0"/>
                <a:ea typeface="Calibri" pitchFamily="34" charset="-122"/>
                <a:cs typeface="Calibri" pitchFamily="34" charset="-120"/>
              </a:rPr>
              <a:t>actually commit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Cold Start</dc:title>
  <dc:subject>PptxGenJS Presentation</dc:subject>
  <dc:creator>Nishad Dhakephalkar</dc:creator>
  <cp:lastModifiedBy>Nishad Dhakephalkar</cp:lastModifiedBy>
  <cp:revision>1</cp:revision>
  <dcterms:created xsi:type="dcterms:W3CDTF">2026-09-06T12:31:07Z</dcterms:created>
  <dcterms:modified xsi:type="dcterms:W3CDTF">2026-09-06T12:31:07Z</dcterms:modified>
</cp:coreProperties>
</file>